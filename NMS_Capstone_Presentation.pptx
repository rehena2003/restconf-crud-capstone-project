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07" y="3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78F-4B95-9809-59E3392DCAC9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78F-4B95-9809-59E3392DCAC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8F-4B95-9809-59E3392DCAC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78F-4B95-9809-59E3392DCAC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Online</c:v>
                </c:pt>
                <c:pt idx="1">
                  <c:v>Offline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78F-4B95-9809-59E3392D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54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4F7CFF">
              <a:alpha val="12000"/>
            </a:srgbClr>
          </a:solidFill>
          <a:ln w="12700">
            <a:solidFill>
              <a:srgbClr val="4F7C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011680" cy="4572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75120" y="1874520"/>
            <a:ext cx="20116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463" y="16002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NGA PROGRAM  ·  25SUB5933_WIPRO_NETWORK MANAGEMENT SYSTEM (NMS)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dirty="0">
                <a:solidFill>
                  <a:schemeClr val="bg1"/>
                </a:solidFill>
              </a:rPr>
              <a:t>CRUD operations with</a:t>
            </a:r>
          </a:p>
          <a:p>
            <a:pPr algn="ctr"/>
            <a:r>
              <a:rPr lang="en-US" sz="3000" dirty="0">
                <a:solidFill>
                  <a:schemeClr val="bg1"/>
                </a:solidFill>
              </a:rPr>
              <a:t> RESTCONF </a:t>
            </a:r>
          </a:p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Java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 – 25</a:t>
            </a:r>
            <a:r>
              <a:rPr lang="en-US" sz="1200" kern="0" spc="100" baseline="30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2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May 2026</a:t>
            </a:r>
          </a:p>
          <a:p>
            <a:pPr algn="ctr"/>
            <a:endParaRPr lang="en-US" sz="1200" kern="0" spc="100" baseline="300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kern="0" spc="100" baseline="30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– Team-c</a:t>
            </a:r>
            <a:endParaRPr lang="en-US" baseline="30000" dirty="0"/>
          </a:p>
        </p:txBody>
      </p:sp>
      <p:sp>
        <p:nvSpPr>
          <p:cNvPr id="15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510D5EE-2288-FDAA-EA90-9E565A4B61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-387" b="18588"/>
          <a:stretch/>
        </p:blipFill>
        <p:spPr>
          <a:xfrm>
            <a:off x="83199" y="51392"/>
            <a:ext cx="1212311" cy="7886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with Traditional Network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606040" cy="1389888"/>
          </a:xfrm>
          <a:prstGeom prst="rect">
            <a:avLst/>
          </a:prstGeom>
          <a:solidFill>
            <a:srgbClr val="111827"/>
          </a:solidFill>
          <a:ln w="889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54864" cy="1389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21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2688" y="109728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Configuration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" y="1536192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Tedious CLI-based device config prone to human errors and inconsistencies across the network.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154680" y="1005840"/>
            <a:ext cx="2606040" cy="1389888"/>
          </a:xfrm>
          <a:prstGeom prst="rect">
            <a:avLst/>
          </a:prstGeom>
          <a:solidFill>
            <a:srgbClr val="111827"/>
          </a:solidFill>
          <a:ln w="889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154680" y="1005840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5214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21608" y="109728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Security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82696" y="1536192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unified auth, no role-based access control, making unauthorized changes easy.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943600" y="1005840"/>
            <a:ext cx="2606040" cy="1389888"/>
          </a:xfrm>
          <a:prstGeom prst="rect">
            <a:avLst/>
          </a:prstGeom>
          <a:solidFill>
            <a:srgbClr val="111827"/>
          </a:solidFill>
          <a:ln w="889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943600" y="1005840"/>
            <a:ext cx="54864" cy="13898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15214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10528" y="109728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Management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71616" y="1536192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tools for different devices with no unified dashboard or single pane of glass.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65760" y="2578608"/>
            <a:ext cx="2606040" cy="1389888"/>
          </a:xfrm>
          <a:prstGeom prst="rect">
            <a:avLst/>
          </a:prstGeom>
          <a:solidFill>
            <a:srgbClr val="111827"/>
          </a:solidFill>
          <a:ln w="889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65760" y="2578608"/>
            <a:ext cx="54864" cy="13898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72491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" y="267004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93776" y="31089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lack immutable logging of config changes, violating compliance norms.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54680" y="2578608"/>
            <a:ext cx="2606040" cy="1389888"/>
          </a:xfrm>
          <a:prstGeom prst="rect">
            <a:avLst/>
          </a:prstGeom>
          <a:solidFill>
            <a:srgbClr val="111827"/>
          </a:solidFill>
          <a:ln w="889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154680" y="2578608"/>
            <a:ext cx="54864" cy="13898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724912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21608" y="267004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82696" y="31089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workflows can't scale with modern dynamic network demands or real-time anomalies.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943600" y="2578608"/>
            <a:ext cx="2606040" cy="1389888"/>
          </a:xfrm>
          <a:prstGeom prst="rect">
            <a:avLst/>
          </a:prstGeom>
          <a:solidFill>
            <a:srgbClr val="111827"/>
          </a:solidFill>
          <a:ln w="889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5943600" y="2578608"/>
            <a:ext cx="54864" cy="1389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724912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10528" y="2670048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Processes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071616" y="3108960"/>
            <a:ext cx="2386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layer causes inconsistent state management and frequent network outages.</a:t>
            </a:r>
            <a:endParaRPr lang="en-US" sz="950" dirty="0"/>
          </a:p>
        </p:txBody>
      </p:sp>
      <p:pic>
        <p:nvPicPr>
          <p:cNvPr id="39" name="Picture 38" descr="Logo&#10;&#10;Description automatically generated">
            <a:extLst>
              <a:ext uri="{FF2B5EF4-FFF2-40B4-BE49-F238E27FC236}">
                <a16:creationId xmlns:a16="http://schemas.microsoft.com/office/drawing/2014/main" id="{47462017-4E23-FF78-52A9-368FDBB60BD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1" y="472056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 and achieve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54864" cy="137160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712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86968" y="107899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REST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8056" y="1499616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RESTCONF-compliant CRUD APIs with Spring Boot, secured end-to-end.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59152" y="1005840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2359152" y="1005840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12471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26080" y="107899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487168" y="1499616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stateless token-based auth with HS256 and Spring Security filter chain.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398264" y="1005840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4398264" y="1005840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112471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965192" y="107899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26280" y="1499616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Admin / Operator / Viewer RBAC for fine-grained authorization.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437376" y="1005840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6437376" y="1005840"/>
            <a:ext cx="5486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12471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04304" y="107899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565392" y="1499616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real-time visibility of all network devices, statuses, and metrics.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595628" y="2633472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1595628" y="2633472"/>
            <a:ext cx="54864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2788" y="275234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162556" y="270662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Layer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723644" y="3127248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JPA/Hibernate with MySQL for reliable device config and audit storage.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3634740" y="2633472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3634740" y="2633472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1900" y="2752344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01668" y="270662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3762756" y="3127248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CRUD operation with timestamps, username, and action type.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673852" y="2633472"/>
            <a:ext cx="1874520" cy="137160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2"/>
          <p:cNvSpPr/>
          <p:nvPr/>
        </p:nvSpPr>
        <p:spPr>
          <a:xfrm>
            <a:off x="5673852" y="2633472"/>
            <a:ext cx="54864" cy="13716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1012" y="2752344"/>
            <a:ext cx="347472" cy="34747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240780" y="270662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801868" y="3127248"/>
            <a:ext cx="1655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layered Spring Boot backend ready for cloud and containerized deployments.</a:t>
            </a:r>
            <a:endParaRPr lang="en-US" sz="900" dirty="0"/>
          </a:p>
        </p:txBody>
      </p:sp>
      <p:pic>
        <p:nvPicPr>
          <p:cNvPr id="44" name="Picture 43" descr="Logo&#10;&#10;Description automatically generated">
            <a:extLst>
              <a:ext uri="{FF2B5EF4-FFF2-40B4-BE49-F238E27FC236}">
                <a16:creationId xmlns:a16="http://schemas.microsoft.com/office/drawing/2014/main" id="{E7465FE9-FADF-793E-3378-EC44B1FC7E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05" y="472056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3A77D60-E75B-1DDC-1D5F-B5B5D6508FC5}"/>
              </a:ext>
            </a:extLst>
          </p:cNvPr>
          <p:cNvSpPr/>
          <p:nvPr/>
        </p:nvSpPr>
        <p:spPr>
          <a:xfrm>
            <a:off x="0" y="5081818"/>
            <a:ext cx="9144000" cy="247829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comparison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393192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EXISTING SYSTEM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1790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CLI-based manual configuration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947672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1911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authentication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7744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control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807208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9808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Scattered, disconnected tools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3697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or logging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66744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9808" y="3630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processes</a:t>
            </a:r>
            <a:endParaRPr lang="en-US" sz="10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096512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49808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4352544" y="2560320"/>
            <a:ext cx="365760" cy="274320"/>
          </a:xfrm>
          <a:prstGeom prst="triangl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8"/>
          <p:cNvSpPr/>
          <p:nvPr/>
        </p:nvSpPr>
        <p:spPr>
          <a:xfrm>
            <a:off x="4279392" y="22402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4206240" y="28803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00" dirty="0"/>
          </a:p>
        </p:txBody>
      </p:sp>
      <p:sp>
        <p:nvSpPr>
          <p:cNvPr id="29" name="Shape 20"/>
          <p:cNvSpPr/>
          <p:nvPr/>
        </p:nvSpPr>
        <p:spPr>
          <a:xfrm>
            <a:off x="4937760" y="960120"/>
            <a:ext cx="3931920" cy="384048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1"/>
          <p:cNvSpPr/>
          <p:nvPr/>
        </p:nvSpPr>
        <p:spPr>
          <a:xfrm>
            <a:off x="4937760" y="960120"/>
            <a:ext cx="3931920" cy="43891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493776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PROPOSED SYSTEM</a:t>
            </a:r>
            <a:endParaRPr lang="en-US" sz="12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517904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413248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 REST APIs with Spring Boot</a:t>
            </a:r>
            <a:endParaRPr lang="en-US" sz="10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947672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413248" y="1911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authentication</a:t>
            </a:r>
            <a:endParaRPr lang="en-US" sz="10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237744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413248" y="2340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Operator / Viewer RBAC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2807208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413248" y="2770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&amp; management UI</a:t>
            </a:r>
            <a:endParaRPr lang="en-US" sz="10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236976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413248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logs with timestamps</a:t>
            </a:r>
            <a:endParaRPr lang="en-US" sz="10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3666744"/>
            <a:ext cx="201168" cy="20116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413248" y="3630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validation &amp; exception handling</a:t>
            </a:r>
            <a:endParaRPr lang="en-US" sz="1000" dirty="0"/>
          </a:p>
        </p:txBody>
      </p:sp>
      <p:pic>
        <p:nvPicPr>
          <p:cNvPr id="4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4096512"/>
            <a:ext cx="201168" cy="20116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5413248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Thymeleaf monitoring UI</a:t>
            </a:r>
            <a:endParaRPr lang="en-US" sz="1000" dirty="0"/>
          </a:p>
        </p:txBody>
      </p:sp>
      <p:pic>
        <p:nvPicPr>
          <p:cNvPr id="46" name="Picture 45" descr="Logo&#10;&#10;Description automatically generated">
            <a:extLst>
              <a:ext uri="{FF2B5EF4-FFF2-40B4-BE49-F238E27FC236}">
                <a16:creationId xmlns:a16="http://schemas.microsoft.com/office/drawing/2014/main" id="{2EC2ED45-DA04-4D3D-EBFE-5B669B81B5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2" y="4906710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powering the NMS platform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1572768" cy="356616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1572768" cy="420624"/>
          </a:xfrm>
          <a:prstGeom prst="rect">
            <a:avLst/>
          </a:prstGeom>
          <a:solidFill>
            <a:srgbClr val="4F7CFF">
              <a:alpha val="82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9601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490472"/>
            <a:ext cx="1389888" cy="475488"/>
          </a:xfrm>
          <a:prstGeom prst="rect">
            <a:avLst/>
          </a:prstGeom>
          <a:solidFill>
            <a:srgbClr val="4F7CFF">
              <a:alpha val="15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4904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1389888" cy="475488"/>
          </a:xfrm>
          <a:prstGeom prst="rect">
            <a:avLst/>
          </a:prstGeom>
          <a:solidFill>
            <a:srgbClr val="4F7CFF">
              <a:alpha val="15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0665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1389888" cy="475488"/>
          </a:xfrm>
          <a:prstGeom prst="rect">
            <a:avLst/>
          </a:prstGeom>
          <a:solidFill>
            <a:srgbClr val="4F7CFF">
              <a:alpha val="15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6426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218688"/>
            <a:ext cx="1389888" cy="475488"/>
          </a:xfrm>
          <a:prstGeom prst="rect">
            <a:avLst/>
          </a:prstGeom>
          <a:solidFill>
            <a:srgbClr val="4F7CFF">
              <a:alpha val="15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2186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1389888" cy="475488"/>
          </a:xfrm>
          <a:prstGeom prst="rect">
            <a:avLst/>
          </a:prstGeom>
          <a:solidFill>
            <a:srgbClr val="4F7CFF">
              <a:alpha val="15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79476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 APIs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93392" y="960120"/>
            <a:ext cx="1572768" cy="35661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993392" y="960120"/>
            <a:ext cx="1572768" cy="420624"/>
          </a:xfrm>
          <a:prstGeom prst="rect">
            <a:avLst/>
          </a:prstGeom>
          <a:solidFill>
            <a:srgbClr val="8B5CF6">
              <a:alpha val="82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993392" y="9601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84832" y="1490472"/>
            <a:ext cx="1389888" cy="47548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084832" y="14904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084832" y="2066544"/>
            <a:ext cx="1389888" cy="47548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084832" y="20665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84832" y="2642616"/>
            <a:ext cx="1389888" cy="47548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084832" y="26426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84832" y="3218688"/>
            <a:ext cx="1389888" cy="47548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084832" y="32186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84832" y="3794760"/>
            <a:ext cx="1389888" cy="475488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084832" y="379476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12464" y="960120"/>
            <a:ext cx="1572768" cy="35661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712464" y="960120"/>
            <a:ext cx="1572768" cy="420624"/>
          </a:xfrm>
          <a:prstGeom prst="rect">
            <a:avLst/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712464" y="9601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03904" y="1490472"/>
            <a:ext cx="1389888" cy="47548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803904" y="14904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03904" y="2066544"/>
            <a:ext cx="1389888" cy="47548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803904" y="20665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03904" y="2642616"/>
            <a:ext cx="1389888" cy="47548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803904" y="26426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03904" y="3218688"/>
            <a:ext cx="1389888" cy="47548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803904" y="32186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Migrations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31536" y="960120"/>
            <a:ext cx="1572768" cy="356616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431536" y="960120"/>
            <a:ext cx="1572768" cy="420624"/>
          </a:xfrm>
          <a:prstGeom prst="rect">
            <a:avLst/>
          </a:prstGeom>
          <a:solidFill>
            <a:srgbClr val="EF4444">
              <a:alpha val="8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431536" y="9601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22976" y="1490472"/>
            <a:ext cx="1389888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522976" y="14904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22976" y="2066544"/>
            <a:ext cx="1389888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522976" y="20665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22976" y="2642616"/>
            <a:ext cx="1389888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522976" y="26426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522976" y="3218688"/>
            <a:ext cx="1389888" cy="47548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522976" y="32186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 Filter Chain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50608" y="960120"/>
            <a:ext cx="1572768" cy="356616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150608" y="960120"/>
            <a:ext cx="1572768" cy="420624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150608" y="960120"/>
            <a:ext cx="1572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242048" y="1490472"/>
            <a:ext cx="1389888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242048" y="14904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242048" y="2066544"/>
            <a:ext cx="1389888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242048" y="2066544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42048" y="2642616"/>
            <a:ext cx="1389888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242048" y="2642616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42048" y="3218688"/>
            <a:ext cx="1389888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7242048" y="321868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42048" y="3794760"/>
            <a:ext cx="1389888" cy="475488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242048" y="379476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900" dirty="0"/>
          </a:p>
        </p:txBody>
      </p:sp>
      <p:pic>
        <p:nvPicPr>
          <p:cNvPr id="72" name="Picture 71" descr="Logo&#10;&#10;Description automatically generated">
            <a:extLst>
              <a:ext uri="{FF2B5EF4-FFF2-40B4-BE49-F238E27FC236}">
                <a16:creationId xmlns:a16="http://schemas.microsoft.com/office/drawing/2014/main" id="{43594A54-95CA-8606-A275-9FE6977C0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" y="472056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019" y="-20769"/>
            <a:ext cx="9078501" cy="93517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layered architecture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5126514"/>
            <a:ext cx="9144000" cy="506190"/>
          </a:xfrm>
          <a:prstGeom prst="rect">
            <a:avLst/>
          </a:prstGeom>
          <a:solidFill>
            <a:srgbClr val="060816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 rot="10545055" flipV="1">
            <a:off x="133061" y="4201985"/>
            <a:ext cx="1162420" cy="99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94560" y="987552"/>
            <a:ext cx="2743200" cy="384048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4241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96896" y="98755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Client Browser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47872" y="1389888"/>
            <a:ext cx="36576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74720" y="1472184"/>
            <a:ext cx="182880" cy="9144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194560" y="1499616"/>
            <a:ext cx="2743200" cy="384048"/>
          </a:xfrm>
          <a:prstGeom prst="rect">
            <a:avLst/>
          </a:prstGeom>
          <a:solidFill>
            <a:srgbClr val="4F7CFF">
              <a:alpha val="22000"/>
            </a:srgbClr>
          </a:solidFill>
          <a:ln w="12700">
            <a:solidFill>
              <a:srgbClr val="4F7C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554480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96896" y="149961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(Thymeleaf + Bootstrap)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547872" y="1901952"/>
            <a:ext cx="36576" cy="1097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474720" y="1984248"/>
            <a:ext cx="182880" cy="91440"/>
          </a:xfrm>
          <a:prstGeom prst="triangl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2194560" y="2011680"/>
            <a:ext cx="2743200" cy="384048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20665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96896" y="201168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547872" y="2414016"/>
            <a:ext cx="36576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3474720" y="2496312"/>
            <a:ext cx="182880" cy="91440"/>
          </a:xfrm>
          <a:prstGeom prst="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2194560" y="2523744"/>
            <a:ext cx="2743200" cy="384048"/>
          </a:xfrm>
          <a:prstGeom prst="rect">
            <a:avLst/>
          </a:prstGeom>
          <a:solidFill>
            <a:srgbClr val="4F7CFF">
              <a:alpha val="22000"/>
            </a:srgbClr>
          </a:solidFill>
          <a:ln w="12700">
            <a:solidFill>
              <a:srgbClr val="4F7C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257860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96896" y="252374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547872" y="2926080"/>
            <a:ext cx="36576" cy="1097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3474720" y="3008376"/>
            <a:ext cx="182880" cy="91440"/>
          </a:xfrm>
          <a:prstGeom prst="triangl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2194560" y="3035808"/>
            <a:ext cx="2743200" cy="384048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309067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596896" y="3035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547872" y="3438144"/>
            <a:ext cx="36576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474720" y="3520440"/>
            <a:ext cx="182880" cy="91440"/>
          </a:xfrm>
          <a:prstGeom prst="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2194560" y="3547872"/>
            <a:ext cx="2743200" cy="384048"/>
          </a:xfrm>
          <a:prstGeom prst="rect">
            <a:avLst/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3602736"/>
            <a:ext cx="256032" cy="2560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596896" y="35478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Layer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3547872" y="3950208"/>
            <a:ext cx="36576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3474720" y="4032504"/>
            <a:ext cx="182880" cy="91440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2194560" y="4059936"/>
            <a:ext cx="2743200" cy="384048"/>
          </a:xfrm>
          <a:prstGeom prst="rect">
            <a:avLst/>
          </a:prstGeom>
          <a:solidFill>
            <a:srgbClr val="06B6D4">
              <a:alpha val="22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4114800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2596896" y="405993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 CRUD APIs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3547872" y="4462272"/>
            <a:ext cx="36576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4"/>
          <p:cNvSpPr/>
          <p:nvPr/>
        </p:nvSpPr>
        <p:spPr>
          <a:xfrm>
            <a:off x="3474720" y="4544568"/>
            <a:ext cx="182880" cy="9144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35"/>
          <p:cNvSpPr/>
          <p:nvPr/>
        </p:nvSpPr>
        <p:spPr>
          <a:xfrm>
            <a:off x="2194560" y="4572000"/>
            <a:ext cx="2743200" cy="384048"/>
          </a:xfrm>
          <a:prstGeom prst="rect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0" y="4626864"/>
            <a:ext cx="256032" cy="25603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2596896" y="45720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 ORM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3547872" y="4974336"/>
            <a:ext cx="36576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38"/>
          <p:cNvSpPr/>
          <p:nvPr/>
        </p:nvSpPr>
        <p:spPr>
          <a:xfrm>
            <a:off x="3474720" y="5056632"/>
            <a:ext cx="182880" cy="9144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39"/>
          <p:cNvSpPr/>
          <p:nvPr/>
        </p:nvSpPr>
        <p:spPr>
          <a:xfrm>
            <a:off x="2190206" y="5095629"/>
            <a:ext cx="2743200" cy="384048"/>
          </a:xfrm>
          <a:prstGeom prst="rect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0" y="5138928"/>
            <a:ext cx="256032" cy="25603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2596896" y="5084064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950" dirty="0"/>
          </a:p>
        </p:txBody>
      </p:sp>
      <p:sp>
        <p:nvSpPr>
          <p:cNvPr id="52" name="Shape 41"/>
          <p:cNvSpPr/>
          <p:nvPr/>
        </p:nvSpPr>
        <p:spPr>
          <a:xfrm>
            <a:off x="7269480" y="1371600"/>
            <a:ext cx="15087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0920" y="1481328"/>
            <a:ext cx="228600" cy="22860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7635240" y="1371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4937760" y="1572768"/>
            <a:ext cx="2286000" cy="18288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44"/>
          <p:cNvSpPr/>
          <p:nvPr/>
        </p:nvSpPr>
        <p:spPr>
          <a:xfrm>
            <a:off x="7269480" y="2240280"/>
            <a:ext cx="15087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920" y="2350008"/>
            <a:ext cx="228600" cy="228600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7635240" y="2240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Tests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4937760" y="2441448"/>
            <a:ext cx="2286000" cy="18288"/>
          </a:xfrm>
          <a:prstGeom prst="rect">
            <a:avLst/>
          </a:prstGeom>
          <a:solidFill>
            <a:srgbClr val="22C55E">
              <a:alpha val="60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47"/>
          <p:cNvSpPr/>
          <p:nvPr/>
        </p:nvSpPr>
        <p:spPr>
          <a:xfrm>
            <a:off x="7269480" y="3108960"/>
            <a:ext cx="15087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0920" y="3218688"/>
            <a:ext cx="228600" cy="22860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7635240" y="31089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00" dirty="0"/>
          </a:p>
        </p:txBody>
      </p:sp>
      <p:sp>
        <p:nvSpPr>
          <p:cNvPr id="63" name="Shape 49"/>
          <p:cNvSpPr/>
          <p:nvPr/>
        </p:nvSpPr>
        <p:spPr>
          <a:xfrm>
            <a:off x="4937760" y="3310128"/>
            <a:ext cx="2286000" cy="18288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50"/>
          <p:cNvSpPr/>
          <p:nvPr/>
        </p:nvSpPr>
        <p:spPr>
          <a:xfrm>
            <a:off x="7269480" y="3977640"/>
            <a:ext cx="1508760" cy="45720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087368"/>
            <a:ext cx="228600" cy="228600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7635240" y="3977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67" name="Shape 52"/>
          <p:cNvSpPr/>
          <p:nvPr/>
        </p:nvSpPr>
        <p:spPr>
          <a:xfrm>
            <a:off x="4937760" y="4178808"/>
            <a:ext cx="2286000" cy="18288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8" name="Picture 67" descr="Logo&#10;&#10;Description automatically generated">
            <a:extLst>
              <a:ext uri="{FF2B5EF4-FFF2-40B4-BE49-F238E27FC236}">
                <a16:creationId xmlns:a16="http://schemas.microsoft.com/office/drawing/2014/main" id="{664827E4-9342-2001-2F86-1427CA0DC3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5183491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Workflow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authentication 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261872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1261872" cy="731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85800" y="1563624"/>
            <a:ext cx="438912" cy="438912"/>
          </a:xfrm>
          <a:prstGeom prst="ellipse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084832"/>
            <a:ext cx="329184" cy="329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0040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credentials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(username + password)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1609344" y="2148840"/>
            <a:ext cx="347472" cy="182880"/>
          </a:xfrm>
          <a:prstGeom prst="triangl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1741018" y="1417320"/>
            <a:ext cx="1261872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1741018" y="1417320"/>
            <a:ext cx="126187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152498" y="1563624"/>
            <a:ext cx="438912" cy="438912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152498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362" y="2084832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786738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Credentials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786738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3076042" y="2148840"/>
            <a:ext cx="347472" cy="182880"/>
          </a:xfrm>
          <a:prstGeom prst="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3207715" y="1417320"/>
            <a:ext cx="1261872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3207715" y="1417320"/>
            <a:ext cx="126187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3619195" y="1563624"/>
            <a:ext cx="438912" cy="438912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3619195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059" y="2084832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253435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JWT Token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3253435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signed token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claims &amp; expiry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4542739" y="2148840"/>
            <a:ext cx="347472" cy="18288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4674413" y="1417320"/>
            <a:ext cx="1261872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4674413" y="1417320"/>
            <a:ext cx="1261872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5085893" y="1563624"/>
            <a:ext cx="438912" cy="438912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1"/>
          <p:cNvSpPr/>
          <p:nvPr/>
        </p:nvSpPr>
        <p:spPr>
          <a:xfrm>
            <a:off x="5085893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757" y="2084832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720133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Validation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4720133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chain check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6009437" y="2148840"/>
            <a:ext cx="347472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5"/>
          <p:cNvSpPr/>
          <p:nvPr/>
        </p:nvSpPr>
        <p:spPr>
          <a:xfrm>
            <a:off x="6141110" y="1417320"/>
            <a:ext cx="1261872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36"/>
          <p:cNvSpPr/>
          <p:nvPr/>
        </p:nvSpPr>
        <p:spPr>
          <a:xfrm>
            <a:off x="6141110" y="1417320"/>
            <a:ext cx="126187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37"/>
          <p:cNvSpPr/>
          <p:nvPr/>
        </p:nvSpPr>
        <p:spPr>
          <a:xfrm>
            <a:off x="6552590" y="1563624"/>
            <a:ext cx="438912" cy="438912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6552590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7454" y="2084832"/>
            <a:ext cx="329184" cy="3291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6186830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6186830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OPERATOR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VIEWER check</a:t>
            </a:r>
            <a:endParaRPr lang="en-US" sz="750" dirty="0"/>
          </a:p>
        </p:txBody>
      </p:sp>
      <p:sp>
        <p:nvSpPr>
          <p:cNvPr id="48" name="Shape 41"/>
          <p:cNvSpPr/>
          <p:nvPr/>
        </p:nvSpPr>
        <p:spPr>
          <a:xfrm>
            <a:off x="7476134" y="2148840"/>
            <a:ext cx="347472" cy="182880"/>
          </a:xfrm>
          <a:prstGeom prst="triangl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2"/>
          <p:cNvSpPr/>
          <p:nvPr/>
        </p:nvSpPr>
        <p:spPr>
          <a:xfrm>
            <a:off x="7607808" y="1417320"/>
            <a:ext cx="1261872" cy="164592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3"/>
          <p:cNvSpPr/>
          <p:nvPr/>
        </p:nvSpPr>
        <p:spPr>
          <a:xfrm>
            <a:off x="7607808" y="1417320"/>
            <a:ext cx="126187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4"/>
          <p:cNvSpPr/>
          <p:nvPr/>
        </p:nvSpPr>
        <p:spPr>
          <a:xfrm>
            <a:off x="8019288" y="1563624"/>
            <a:ext cx="438912" cy="438912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5"/>
          <p:cNvSpPr/>
          <p:nvPr/>
        </p:nvSpPr>
        <p:spPr>
          <a:xfrm>
            <a:off x="8019288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2084832"/>
            <a:ext cx="329184" cy="32918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653528" y="24688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Access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7653528" y="274320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request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750" dirty="0"/>
          </a:p>
        </p:txBody>
      </p:sp>
      <p:sp>
        <p:nvSpPr>
          <p:cNvPr id="56" name="Shape 48"/>
          <p:cNvSpPr/>
          <p:nvPr/>
        </p:nvSpPr>
        <p:spPr>
          <a:xfrm>
            <a:off x="365760" y="3310128"/>
            <a:ext cx="8412480" cy="457200"/>
          </a:xfrm>
          <a:prstGeom prst="rect">
            <a:avLst/>
          </a:prstGeom>
          <a:solidFill>
            <a:srgbClr val="0A1628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Text 49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 eyJhbGciOiJIUzI1NiIsInR5cCI6IkpXVCJ9.eyJzdWIiOiJ1c2VyIiwicm9sZSI6IkFETUlOIn0.&lt;signature&gt;</a:t>
            </a:r>
            <a:endParaRPr lang="en-US" sz="900" dirty="0"/>
          </a:p>
        </p:txBody>
      </p:sp>
      <p:pic>
        <p:nvPicPr>
          <p:cNvPr id="58" name="Picture 57" descr="Logo&#10;&#10;Description automatically generated">
            <a:extLst>
              <a:ext uri="{FF2B5EF4-FFF2-40B4-BE49-F238E27FC236}">
                <a16:creationId xmlns:a16="http://schemas.microsoft.com/office/drawing/2014/main" id="{1D5F34C0-188B-5C58-1B36-1195EB6D63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" y="4671427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permissions per 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256032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2560320" cy="658368"/>
          </a:xfrm>
          <a:prstGeom prst="rect">
            <a:avLst/>
          </a:prstGeom>
          <a:solidFill>
            <a:srgbClr val="EF4444">
              <a:alpha val="84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16128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33856" y="10058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77393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0976" y="173736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2199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0976" y="21854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70048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976" y="263347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/ Delete devices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118104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0976" y="308152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66160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50976" y="352958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14216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50976" y="39776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3566160" y="1005840"/>
            <a:ext cx="256032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7"/>
          <p:cNvSpPr/>
          <p:nvPr/>
        </p:nvSpPr>
        <p:spPr>
          <a:xfrm>
            <a:off x="3566160" y="1005840"/>
            <a:ext cx="2560320" cy="658368"/>
          </a:xfrm>
          <a:prstGeom prst="rect">
            <a:avLst/>
          </a:prstGeom>
          <a:solidFill>
            <a:srgbClr val="F59E0B">
              <a:alpha val="84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1161288"/>
            <a:ext cx="347472" cy="34747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151376" y="10058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5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1773936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968496" y="173736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9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221992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968496" y="21854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devices</a:t>
            </a:r>
            <a:endParaRPr lang="en-US" sz="9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67004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3968496" y="263347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9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118104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3968496" y="308152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</a:t>
            </a:r>
            <a:endParaRPr lang="en-US" sz="9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566160"/>
            <a:ext cx="201168" cy="20116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3968496" y="352958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 changes</a:t>
            </a:r>
            <a:endParaRPr lang="en-US" sz="95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014216"/>
            <a:ext cx="201168" cy="201168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3968496" y="39776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management</a:t>
            </a:r>
            <a:endParaRPr lang="en-US" sz="950" dirty="0"/>
          </a:p>
        </p:txBody>
      </p:sp>
      <p:sp>
        <p:nvSpPr>
          <p:cNvPr id="41" name="Shape 25"/>
          <p:cNvSpPr/>
          <p:nvPr/>
        </p:nvSpPr>
        <p:spPr>
          <a:xfrm>
            <a:off x="6583680" y="1005840"/>
            <a:ext cx="2560320" cy="347472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26"/>
          <p:cNvSpPr/>
          <p:nvPr/>
        </p:nvSpPr>
        <p:spPr>
          <a:xfrm>
            <a:off x="6583680" y="1005840"/>
            <a:ext cx="2560320" cy="658368"/>
          </a:xfrm>
          <a:prstGeom prst="rect">
            <a:avLst/>
          </a:prstGeom>
          <a:solidFill>
            <a:srgbClr val="22C55E">
              <a:alpha val="84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1161288"/>
            <a:ext cx="347472" cy="347472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7168896" y="1005840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500" dirty="0"/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73936"/>
            <a:ext cx="201168" cy="201168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6986016" y="173736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950" dirty="0"/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221992"/>
            <a:ext cx="201168" cy="201168"/>
          </a:xfrm>
          <a:prstGeom prst="rect">
            <a:avLst/>
          </a:prstGeom>
        </p:spPr>
      </p:pic>
      <p:sp>
        <p:nvSpPr>
          <p:cNvPr id="48" name="Text 29"/>
          <p:cNvSpPr/>
          <p:nvPr/>
        </p:nvSpPr>
        <p:spPr>
          <a:xfrm>
            <a:off x="6986016" y="2185416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devices &amp; status</a:t>
            </a:r>
            <a:endParaRPr lang="en-US" sz="950" dirty="0"/>
          </a:p>
        </p:txBody>
      </p:sp>
      <p:pic>
        <p:nvPicPr>
          <p:cNvPr id="49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70048"/>
            <a:ext cx="201168" cy="201168"/>
          </a:xfrm>
          <a:prstGeom prst="rect">
            <a:avLst/>
          </a:prstGeom>
        </p:spPr>
      </p:pic>
      <p:sp>
        <p:nvSpPr>
          <p:cNvPr id="50" name="Text 30"/>
          <p:cNvSpPr/>
          <p:nvPr/>
        </p:nvSpPr>
        <p:spPr>
          <a:xfrm>
            <a:off x="6986016" y="263347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950" dirty="0"/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118104"/>
            <a:ext cx="201168" cy="201168"/>
          </a:xfrm>
          <a:prstGeom prst="rect">
            <a:avLst/>
          </a:prstGeom>
        </p:spPr>
      </p:pic>
      <p:sp>
        <p:nvSpPr>
          <p:cNvPr id="52" name="Text 31"/>
          <p:cNvSpPr/>
          <p:nvPr/>
        </p:nvSpPr>
        <p:spPr>
          <a:xfrm>
            <a:off x="6986016" y="308152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audit logs</a:t>
            </a:r>
            <a:endParaRPr lang="en-US" sz="950" dirty="0"/>
          </a:p>
        </p:txBody>
      </p:sp>
      <p:pic>
        <p:nvPicPr>
          <p:cNvPr id="53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566160"/>
            <a:ext cx="201168" cy="201168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6986016" y="352958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 changes</a:t>
            </a:r>
            <a:endParaRPr lang="en-US" sz="950" dirty="0"/>
          </a:p>
        </p:txBody>
      </p:sp>
      <p:pic>
        <p:nvPicPr>
          <p:cNvPr id="55" name="Image 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014216"/>
            <a:ext cx="201168" cy="201168"/>
          </a:xfrm>
          <a:prstGeom prst="rect">
            <a:avLst/>
          </a:prstGeom>
        </p:spPr>
      </p:pic>
      <p:sp>
        <p:nvSpPr>
          <p:cNvPr id="56" name="Text 33"/>
          <p:cNvSpPr/>
          <p:nvPr/>
        </p:nvSpPr>
        <p:spPr>
          <a:xfrm>
            <a:off x="6986016" y="397764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management</a:t>
            </a:r>
            <a:endParaRPr lang="en-US" sz="950" dirty="0"/>
          </a:p>
        </p:txBody>
      </p:sp>
      <p:pic>
        <p:nvPicPr>
          <p:cNvPr id="57" name="Picture 56" descr="Logo&#10;&#10;Description automatically generated">
            <a:extLst>
              <a:ext uri="{FF2B5EF4-FFF2-40B4-BE49-F238E27FC236}">
                <a16:creationId xmlns:a16="http://schemas.microsoft.com/office/drawing/2014/main" id="{E03E05A3-FDDF-06FC-31BD-42D5C8ED80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6" y="4727448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(ER Diagram)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schema for the NMS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606040" cy="2450592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2606040" cy="420624"/>
          </a:xfrm>
          <a:prstGeom prst="rect">
            <a:avLst/>
          </a:prstGeom>
          <a:solidFill>
            <a:srgbClr val="4F7CFF">
              <a:alpha val="85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" y="1005840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192" y="1499616"/>
            <a:ext cx="256032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93192" y="1499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85800" y="1426464"/>
            <a:ext cx="143332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805483" y="1426464"/>
            <a:ext cx="109453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0040" y="1764792"/>
            <a:ext cx="2606040" cy="338328"/>
          </a:xfrm>
          <a:prstGeom prst="rect">
            <a:avLst/>
          </a:prstGeom>
          <a:solidFill>
            <a:srgbClr val="4F7CFF">
              <a:alpha val="8000"/>
            </a:srgbClr>
          </a:solidFill>
          <a:ln w="12700">
            <a:solidFill>
              <a:srgbClr val="4F7C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85800" y="1764792"/>
            <a:ext cx="143332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805483" y="1764792"/>
            <a:ext cx="109453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85800" y="2103120"/>
            <a:ext cx="143332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805483" y="2103120"/>
            <a:ext cx="109453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320040" y="2441448"/>
            <a:ext cx="2606040" cy="338328"/>
          </a:xfrm>
          <a:prstGeom prst="rect">
            <a:avLst/>
          </a:prstGeom>
          <a:solidFill>
            <a:srgbClr val="4F7CFF">
              <a:alpha val="8000"/>
            </a:srgbClr>
          </a:solidFill>
          <a:ln w="12700">
            <a:solidFill>
              <a:srgbClr val="4F7C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685800" y="2441448"/>
            <a:ext cx="143332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1805483" y="2441448"/>
            <a:ext cx="109453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85800" y="2779776"/>
            <a:ext cx="143332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805483" y="2779776"/>
            <a:ext cx="109453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0040" y="3118104"/>
            <a:ext cx="2606040" cy="338328"/>
          </a:xfrm>
          <a:prstGeom prst="rect">
            <a:avLst/>
          </a:prstGeom>
          <a:solidFill>
            <a:srgbClr val="4F7CFF">
              <a:alpha val="8000"/>
            </a:srgbClr>
          </a:solidFill>
          <a:ln w="12700">
            <a:solidFill>
              <a:srgbClr val="4F7C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685800" y="3118104"/>
            <a:ext cx="143332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805483" y="3118104"/>
            <a:ext cx="109453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91840" y="1005840"/>
            <a:ext cx="2834640" cy="278892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3291840" y="1005840"/>
            <a:ext cx="2834640" cy="420624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097280"/>
            <a:ext cx="246888" cy="24688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675888" y="1005840"/>
            <a:ext cx="2359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364992" y="1499616"/>
            <a:ext cx="256032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3364992" y="1499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36" name="Text 32"/>
          <p:cNvSpPr/>
          <p:nvPr/>
        </p:nvSpPr>
        <p:spPr>
          <a:xfrm>
            <a:off x="3657600" y="1426464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4907585" y="1426464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291840" y="1764792"/>
            <a:ext cx="2834640" cy="338328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3364992" y="1837944"/>
            <a:ext cx="256032" cy="20116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3364992" y="18379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41" name="Text 37"/>
          <p:cNvSpPr/>
          <p:nvPr/>
        </p:nvSpPr>
        <p:spPr>
          <a:xfrm>
            <a:off x="3657600" y="1764792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4907585" y="1764792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657600" y="2103120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device_name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4907585" y="2103120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3291840" y="2441448"/>
            <a:ext cx="2834640" cy="338328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657600" y="2441448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ip_address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4907585" y="2441448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VARCHAR(45)</a:t>
            </a:r>
            <a:endParaRPr lang="en-US" sz="800" dirty="0"/>
          </a:p>
        </p:txBody>
      </p:sp>
      <p:sp>
        <p:nvSpPr>
          <p:cNvPr id="48" name="Text 44"/>
          <p:cNvSpPr/>
          <p:nvPr/>
        </p:nvSpPr>
        <p:spPr>
          <a:xfrm>
            <a:off x="3657600" y="2779776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4907585" y="2779776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3291840" y="3118104"/>
            <a:ext cx="2834640" cy="338328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7"/>
          <p:cNvSpPr/>
          <p:nvPr/>
        </p:nvSpPr>
        <p:spPr>
          <a:xfrm>
            <a:off x="3657600" y="3118104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config_data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4907585" y="3118104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3657600" y="3456432"/>
            <a:ext cx="15590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850" dirty="0"/>
          </a:p>
        </p:txBody>
      </p:sp>
      <p:sp>
        <p:nvSpPr>
          <p:cNvPr id="54" name="Text 50"/>
          <p:cNvSpPr/>
          <p:nvPr/>
        </p:nvSpPr>
        <p:spPr>
          <a:xfrm>
            <a:off x="4907585" y="3456432"/>
            <a:ext cx="1190549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6492240" y="1005840"/>
            <a:ext cx="2377440" cy="2450592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2"/>
          <p:cNvSpPr/>
          <p:nvPr/>
        </p:nvSpPr>
        <p:spPr>
          <a:xfrm>
            <a:off x="6492240" y="1005840"/>
            <a:ext cx="2377440" cy="420624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97280"/>
            <a:ext cx="246888" cy="246888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6876288" y="100584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6565392" y="1499616"/>
            <a:ext cx="256032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5"/>
          <p:cNvSpPr/>
          <p:nvPr/>
        </p:nvSpPr>
        <p:spPr>
          <a:xfrm>
            <a:off x="6565392" y="14996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50" dirty="0"/>
          </a:p>
        </p:txBody>
      </p:sp>
      <p:sp>
        <p:nvSpPr>
          <p:cNvPr id="61" name="Text 56"/>
          <p:cNvSpPr/>
          <p:nvPr/>
        </p:nvSpPr>
        <p:spPr>
          <a:xfrm>
            <a:off x="6858000" y="1426464"/>
            <a:ext cx="1307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(PK)</a:t>
            </a:r>
            <a:endParaRPr lang="en-US" sz="850" dirty="0"/>
          </a:p>
        </p:txBody>
      </p:sp>
      <p:sp>
        <p:nvSpPr>
          <p:cNvPr id="62" name="Text 57"/>
          <p:cNvSpPr/>
          <p:nvPr/>
        </p:nvSpPr>
        <p:spPr>
          <a:xfrm>
            <a:off x="7847381" y="1426464"/>
            <a:ext cx="9985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6492240" y="1764792"/>
            <a:ext cx="2377440" cy="338328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59"/>
          <p:cNvSpPr/>
          <p:nvPr/>
        </p:nvSpPr>
        <p:spPr>
          <a:xfrm>
            <a:off x="6565392" y="1837944"/>
            <a:ext cx="256032" cy="20116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6565392" y="183794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50" dirty="0"/>
          </a:p>
        </p:txBody>
      </p:sp>
      <p:sp>
        <p:nvSpPr>
          <p:cNvPr id="66" name="Text 61"/>
          <p:cNvSpPr/>
          <p:nvPr/>
        </p:nvSpPr>
        <p:spPr>
          <a:xfrm>
            <a:off x="6858000" y="1764792"/>
            <a:ext cx="1307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50" dirty="0"/>
          </a:p>
        </p:txBody>
      </p:sp>
      <p:sp>
        <p:nvSpPr>
          <p:cNvPr id="67" name="Text 62"/>
          <p:cNvSpPr/>
          <p:nvPr/>
        </p:nvSpPr>
        <p:spPr>
          <a:xfrm>
            <a:off x="7847381" y="1764792"/>
            <a:ext cx="9985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6858000" y="2103120"/>
            <a:ext cx="1307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69" name="Text 64"/>
          <p:cNvSpPr/>
          <p:nvPr/>
        </p:nvSpPr>
        <p:spPr>
          <a:xfrm>
            <a:off x="7847381" y="2103120"/>
            <a:ext cx="9985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6492240" y="2441448"/>
            <a:ext cx="2377440" cy="338328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6"/>
          <p:cNvSpPr/>
          <p:nvPr/>
        </p:nvSpPr>
        <p:spPr>
          <a:xfrm>
            <a:off x="6858000" y="2441448"/>
            <a:ext cx="1307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50" dirty="0"/>
          </a:p>
        </p:txBody>
      </p:sp>
      <p:sp>
        <p:nvSpPr>
          <p:cNvPr id="72" name="Text 67"/>
          <p:cNvSpPr/>
          <p:nvPr/>
        </p:nvSpPr>
        <p:spPr>
          <a:xfrm>
            <a:off x="7847381" y="2441448"/>
            <a:ext cx="9985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800" dirty="0"/>
          </a:p>
        </p:txBody>
      </p:sp>
      <p:sp>
        <p:nvSpPr>
          <p:cNvPr id="73" name="Text 68"/>
          <p:cNvSpPr/>
          <p:nvPr/>
        </p:nvSpPr>
        <p:spPr>
          <a:xfrm>
            <a:off x="6858000" y="2779776"/>
            <a:ext cx="1307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850" dirty="0"/>
          </a:p>
        </p:txBody>
      </p:sp>
      <p:sp>
        <p:nvSpPr>
          <p:cNvPr id="74" name="Text 69"/>
          <p:cNvSpPr/>
          <p:nvPr/>
        </p:nvSpPr>
        <p:spPr>
          <a:xfrm>
            <a:off x="7847381" y="2779776"/>
            <a:ext cx="9985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75" name="Shape 70"/>
          <p:cNvSpPr/>
          <p:nvPr/>
        </p:nvSpPr>
        <p:spPr>
          <a:xfrm>
            <a:off x="6492240" y="3118104"/>
            <a:ext cx="2377440" cy="338328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6858000" y="3118104"/>
            <a:ext cx="13075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77" name="Text 72"/>
          <p:cNvSpPr/>
          <p:nvPr/>
        </p:nvSpPr>
        <p:spPr>
          <a:xfrm>
            <a:off x="7847381" y="3118104"/>
            <a:ext cx="998525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00" dirty="0"/>
          </a:p>
        </p:txBody>
      </p:sp>
      <p:sp>
        <p:nvSpPr>
          <p:cNvPr id="78" name="Shape 73"/>
          <p:cNvSpPr/>
          <p:nvPr/>
        </p:nvSpPr>
        <p:spPr>
          <a:xfrm>
            <a:off x="2926080" y="4160520"/>
            <a:ext cx="3657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Shape 74"/>
          <p:cNvSpPr/>
          <p:nvPr/>
        </p:nvSpPr>
        <p:spPr>
          <a:xfrm>
            <a:off x="3273552" y="4096512"/>
            <a:ext cx="109728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5"/>
          <p:cNvSpPr/>
          <p:nvPr/>
        </p:nvSpPr>
        <p:spPr>
          <a:xfrm>
            <a:off x="2743200" y="3913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750" dirty="0"/>
          </a:p>
        </p:txBody>
      </p:sp>
      <p:sp>
        <p:nvSpPr>
          <p:cNvPr id="81" name="Shape 76"/>
          <p:cNvSpPr/>
          <p:nvPr/>
        </p:nvSpPr>
        <p:spPr>
          <a:xfrm>
            <a:off x="6126480" y="4160520"/>
            <a:ext cx="3657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Shape 77"/>
          <p:cNvSpPr/>
          <p:nvPr/>
        </p:nvSpPr>
        <p:spPr>
          <a:xfrm>
            <a:off x="6473952" y="4096512"/>
            <a:ext cx="109728" cy="182880"/>
          </a:xfrm>
          <a:prstGeom prst="triangl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5961888" y="3913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</a:t>
            </a:r>
            <a:endParaRPr lang="en-US" sz="750" dirty="0"/>
          </a:p>
        </p:txBody>
      </p:sp>
      <p:pic>
        <p:nvPicPr>
          <p:cNvPr id="84" name="Picture 83" descr="Logo&#10;&#10;Description automatically generated">
            <a:extLst>
              <a:ext uri="{FF2B5EF4-FFF2-40B4-BE49-F238E27FC236}">
                <a16:creationId xmlns:a16="http://schemas.microsoft.com/office/drawing/2014/main" id="{7FC59507-43F4-D248-47C4-F276272BB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9" y="472056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FB39317-DB71-35F7-325A-ABE622171214}"/>
              </a:ext>
            </a:extLst>
          </p:cNvPr>
          <p:cNvSpPr/>
          <p:nvPr/>
        </p:nvSpPr>
        <p:spPr>
          <a:xfrm>
            <a:off x="0" y="5143500"/>
            <a:ext cx="9144000" cy="212271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via RESTCONF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mapped to RESTCONF API 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8412480" cy="841248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868680" cy="841248"/>
          </a:xfrm>
          <a:prstGeom prst="rect">
            <a:avLst/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10607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4081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/api/devices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body: deviceDTO }</a:t>
            </a:r>
            <a:endParaRPr lang="en-US" sz="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80160"/>
            <a:ext cx="228600" cy="2286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206240" y="100584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DB Insert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1975104"/>
            <a:ext cx="8412480" cy="841248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65760" y="1975104"/>
            <a:ext cx="868680" cy="841248"/>
          </a:xfrm>
          <a:prstGeom prst="rect">
            <a:avLst/>
          </a:prstGeom>
          <a:solidFill>
            <a:srgbClr val="4F7CFF">
              <a:alpha val="82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65760" y="1975104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325880" y="20299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Resource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325880" y="2377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/api/devices/{id}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 Token</a:t>
            </a:r>
            <a:endParaRPr lang="en-US" sz="8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249424"/>
            <a:ext cx="228600" cy="228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06240" y="197510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DB Select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2944368"/>
            <a:ext cx="8412480" cy="841248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365760" y="2944368"/>
            <a:ext cx="868680" cy="841248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365760" y="2944368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325880" y="2999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Resource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1325880" y="33467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/api/devices/{id}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body: updates }</a:t>
            </a:r>
            <a:endParaRPr lang="en-US" sz="8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218688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206240" y="294436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DB Update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65760" y="3913632"/>
            <a:ext cx="8412480" cy="841248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365760" y="3913632"/>
            <a:ext cx="868680" cy="841248"/>
          </a:xfrm>
          <a:prstGeom prst="rect">
            <a:avLst/>
          </a:prstGeom>
          <a:solidFill>
            <a:srgbClr val="EF4444">
              <a:alpha val="8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7"/>
          <p:cNvSpPr/>
          <p:nvPr/>
        </p:nvSpPr>
        <p:spPr>
          <a:xfrm>
            <a:off x="365760" y="3913632"/>
            <a:ext cx="86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1325880" y="39684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Resource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1325880" y="43159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/api/devices/{id}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 Token</a:t>
            </a:r>
            <a:endParaRPr lang="en-US" sz="8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187952"/>
            <a:ext cx="228600" cy="2286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206240" y="391363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 → DB Delete</a:t>
            </a:r>
            <a:endParaRPr lang="en-US" sz="950" dirty="0"/>
          </a:p>
        </p:txBody>
      </p:sp>
      <p:pic>
        <p:nvPicPr>
          <p:cNvPr id="38" name="Picture 37" descr="Logo&#10;&#10;Description automatically generated">
            <a:extLst>
              <a:ext uri="{FF2B5EF4-FFF2-40B4-BE49-F238E27FC236}">
                <a16:creationId xmlns:a16="http://schemas.microsoft.com/office/drawing/2014/main" id="{40F960E8-9AFF-3675-2F64-1D935B511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" y="4932834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RESTCONF-compliant API surface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8595360" cy="384048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02412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1024128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96512" y="10241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96912" y="1024128"/>
            <a:ext cx="158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08176"/>
            <a:ext cx="8595360" cy="402336"/>
          </a:xfrm>
          <a:prstGeom prst="rect">
            <a:avLst/>
          </a:prstGeom>
          <a:solidFill>
            <a:srgbClr val="4F7CFF">
              <a:alpha val="5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9184" y="1481328"/>
            <a:ext cx="658368" cy="237744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9184" y="14813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24128" y="140817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14081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user &amp; return JWT token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140817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" y="1883664"/>
            <a:ext cx="658368" cy="237744"/>
          </a:xfrm>
          <a:prstGeom prst="rect">
            <a:avLst/>
          </a:prstGeom>
          <a:solidFill>
            <a:srgbClr val="4F7CFF">
              <a:alpha val="85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9184" y="188366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24128" y="181051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18105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network device configurations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181051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OPERATOR, VIEWER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212848"/>
            <a:ext cx="8595360" cy="402336"/>
          </a:xfrm>
          <a:prstGeom prst="rect">
            <a:avLst/>
          </a:prstGeom>
          <a:solidFill>
            <a:srgbClr val="4F7CFF">
              <a:alpha val="5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9184" y="2286000"/>
            <a:ext cx="658368" cy="237744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9184" y="228600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" y="2212848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22128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network device config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0" y="221284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OPERATOR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" y="2688336"/>
            <a:ext cx="658368" cy="237744"/>
          </a:xfrm>
          <a:prstGeom prst="rect">
            <a:avLst/>
          </a:prstGeom>
          <a:solidFill>
            <a:srgbClr val="4F7CFF">
              <a:alpha val="85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9184" y="26883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24128" y="2615184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/api/devices/{id}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2615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single device config by 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49440" y="26151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3017520"/>
            <a:ext cx="8595360" cy="402336"/>
          </a:xfrm>
          <a:prstGeom prst="rect">
            <a:avLst/>
          </a:prstGeom>
          <a:solidFill>
            <a:srgbClr val="4F7CFF">
              <a:alpha val="5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29184" y="3090672"/>
            <a:ext cx="658368" cy="237744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29184" y="30906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24128" y="3017520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/api/devices/{id}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40480" y="30175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existing device configuration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49440" y="30175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OPERATOR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9184" y="3493008"/>
            <a:ext cx="658368" cy="237744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9184" y="34930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24128" y="341985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/api/devices/{id}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840480" y="34198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device from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49440" y="3419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3822192"/>
            <a:ext cx="8595360" cy="402336"/>
          </a:xfrm>
          <a:prstGeom prst="rect">
            <a:avLst/>
          </a:prstGeom>
          <a:solidFill>
            <a:srgbClr val="4F7CFF">
              <a:alpha val="5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329184" y="3895344"/>
            <a:ext cx="658368" cy="237744"/>
          </a:xfrm>
          <a:prstGeom prst="rect">
            <a:avLst/>
          </a:prstGeom>
          <a:solidFill>
            <a:srgbClr val="4F7CFF">
              <a:alpha val="85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9184" y="38953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24128" y="3822192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/api/audit-logs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840480" y="38221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immutable audit log entries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49440" y="382219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OPERATOR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9184" y="4297680"/>
            <a:ext cx="658368" cy="237744"/>
          </a:xfrm>
          <a:prstGeom prst="rect">
            <a:avLst/>
          </a:prstGeom>
          <a:solidFill>
            <a:srgbClr val="4F7CFF">
              <a:alpha val="85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9184" y="429768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024128" y="4224528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840480" y="42245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registered system users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949440" y="42245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pic>
        <p:nvPicPr>
          <p:cNvPr id="58" name="Picture 57" descr="Logo&#10;&#10;Description automatically generated">
            <a:extLst>
              <a:ext uri="{FF2B5EF4-FFF2-40B4-BE49-F238E27FC236}">
                <a16:creationId xmlns:a16="http://schemas.microsoft.com/office/drawing/2014/main" id="{E209AF47-BD01-23DD-28AA-AEA0CD3B9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" y="472056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Mechanism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authentication with HS256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859536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Structure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44168"/>
            <a:ext cx="2743200" cy="6217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84048" y="137160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160934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eyJhbGciOiJIUzI1NiIsInR5cCI6IkpXVCJ9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82112" y="1344168"/>
            <a:ext cx="2743200" cy="621792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46120" y="137160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46120" y="160934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eyJzdWIiOiJ1c2VyIiwicm9sZSI6IkFETUlOIn0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44184" y="1344168"/>
            <a:ext cx="2743200" cy="62179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08192" y="137160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08192" y="1609344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HMAC-SHA256(base64(header).base64(payload), secret)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5780" y="2240280"/>
            <a:ext cx="192024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25780" y="2240280"/>
            <a:ext cx="1920240" cy="5486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37744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8932" y="28072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Algorithm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8932" y="30998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symmetric signing with a secure server-side secret key.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583180" y="2240280"/>
            <a:ext cx="192024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2583180" y="224028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420" y="237744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656332" y="28072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Authentication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2656332" y="30998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passed in Authorization header on every request.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40580" y="2240280"/>
            <a:ext cx="192024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7"/>
          <p:cNvSpPr/>
          <p:nvPr/>
        </p:nvSpPr>
        <p:spPr>
          <a:xfrm>
            <a:off x="4640580" y="2240280"/>
            <a:ext cx="19202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2377440"/>
            <a:ext cx="365760" cy="3657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713732" y="28072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Filter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713732" y="30998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intercepts all requests before controller.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6697980" y="2240280"/>
            <a:ext cx="192024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6697980" y="2240280"/>
            <a:ext cx="19202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5220" y="2377440"/>
            <a:ext cx="365760" cy="36576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771132" y="280720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 &amp; Refresh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771132" y="309981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expiry with role claims embedded in JWT payload.</a:t>
            </a:r>
            <a:endParaRPr lang="en-US" sz="850" dirty="0"/>
          </a:p>
        </p:txBody>
      </p:sp>
      <p:pic>
        <p:nvPicPr>
          <p:cNvPr id="40" name="Picture 39" descr="Logo&#10;&#10;Description automatically generated">
            <a:extLst>
              <a:ext uri="{FF2B5EF4-FFF2-40B4-BE49-F238E27FC236}">
                <a16:creationId xmlns:a16="http://schemas.microsoft.com/office/drawing/2014/main" id="{60B5BAE4-1457-0ABD-1489-C69695A88D6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5" y="472056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4983478"/>
            <a:ext cx="9144000" cy="476795"/>
          </a:xfrm>
          <a:prstGeom prst="rect">
            <a:avLst/>
          </a:prstGeom>
          <a:solidFill>
            <a:srgbClr val="060816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Layered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in Spring Boot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80467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48640" y="1005840"/>
            <a:ext cx="54864" cy="56692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03504" y="1005840"/>
            <a:ext cx="1737360" cy="566928"/>
          </a:xfrm>
          <a:prstGeom prst="rect">
            <a:avLst/>
          </a:prstGeom>
          <a:solidFill>
            <a:srgbClr val="4F7CFF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15214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42416" y="10058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432304" y="1005840"/>
            <a:ext cx="6071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 |  @RequestMapping  |  @Valid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26280" y="1600200"/>
            <a:ext cx="182880" cy="82296"/>
          </a:xfrm>
          <a:prstGeom prst="triangle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48640" y="1700784"/>
            <a:ext cx="80467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548640" y="1700784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03504" y="1700784"/>
            <a:ext cx="1737360" cy="56692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470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42416" y="170078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432304" y="1700784"/>
            <a:ext cx="6071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@Service  |  Business Logic  |  Transactions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26280" y="2295144"/>
            <a:ext cx="182880" cy="82296"/>
          </a:xfrm>
          <a:prstGeom prst="triangl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548640" y="2395728"/>
            <a:ext cx="80467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548640" y="2395728"/>
            <a:ext cx="54864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603504" y="2395728"/>
            <a:ext cx="1737360" cy="56692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542032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42416" y="239572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2432304" y="2395728"/>
            <a:ext cx="6071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@Repository  |  JpaRepository  |  Custom Queries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526280" y="2990088"/>
            <a:ext cx="182880" cy="82296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/>
          <p:cNvSpPr/>
          <p:nvPr/>
        </p:nvSpPr>
        <p:spPr>
          <a:xfrm>
            <a:off x="548640" y="3090672"/>
            <a:ext cx="80467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6"/>
          <p:cNvSpPr/>
          <p:nvPr/>
        </p:nvSpPr>
        <p:spPr>
          <a:xfrm>
            <a:off x="548640" y="3090672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03504" y="3090672"/>
            <a:ext cx="1737360" cy="56692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236976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42416" y="309067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DTO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432304" y="3090672"/>
            <a:ext cx="6071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 |  @Table  |  Record DTO  |  Validation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526280" y="3685032"/>
            <a:ext cx="182880" cy="82296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1"/>
          <p:cNvSpPr/>
          <p:nvPr/>
        </p:nvSpPr>
        <p:spPr>
          <a:xfrm>
            <a:off x="548640" y="3773642"/>
            <a:ext cx="804672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2"/>
          <p:cNvSpPr/>
          <p:nvPr/>
        </p:nvSpPr>
        <p:spPr>
          <a:xfrm>
            <a:off x="548640" y="3785616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3"/>
          <p:cNvSpPr/>
          <p:nvPr/>
        </p:nvSpPr>
        <p:spPr>
          <a:xfrm>
            <a:off x="603504" y="3785616"/>
            <a:ext cx="1737360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3931920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042416" y="378561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2432304" y="3785616"/>
            <a:ext cx="6071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  |  UserDetailsService  |  PasswordEncoder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526870" y="4532594"/>
            <a:ext cx="8046720" cy="438912"/>
          </a:xfrm>
          <a:prstGeom prst="rect">
            <a:avLst/>
          </a:prstGeom>
          <a:solidFill>
            <a:srgbClr val="0A1628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713232" y="4352544"/>
            <a:ext cx="1828800" cy="618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Package Structure: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2505456" y="4503420"/>
            <a:ext cx="5852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com.nms  →  controller  /  service  /  repository  /  entity  /  dto  /  security  /  config  /  exception</a:t>
            </a:r>
            <a:endParaRPr lang="en-US" sz="900" dirty="0"/>
          </a:p>
        </p:txBody>
      </p:sp>
      <p:pic>
        <p:nvPicPr>
          <p:cNvPr id="46" name="Picture 45" descr="Logo&#10;&#10;Description automatically generated">
            <a:extLst>
              <a:ext uri="{FF2B5EF4-FFF2-40B4-BE49-F238E27FC236}">
                <a16:creationId xmlns:a16="http://schemas.microsoft.com/office/drawing/2014/main" id="{5552C9E1-84F0-A38E-F397-6211FEDBEC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0" y="5037336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Technology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rendered UI with Thymeleaf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60604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2606040" cy="5486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521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32688" y="10972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5488" y="1627632"/>
            <a:ext cx="2404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template engine deeply integrated with Spring Boot for dynamic HTML generation.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36392" y="1005840"/>
            <a:ext cx="260604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136392" y="1005840"/>
            <a:ext cx="26060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15214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10972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46120" y="1627632"/>
            <a:ext cx="2404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CSS framework providing a modern, consistent grid layout and UI components.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07024" y="1005840"/>
            <a:ext cx="260604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907024" y="1005840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4" y="115214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73952" y="10972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16752" y="1627632"/>
            <a:ext cx="2404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 with custom CSS for glassmorphism cards, gradients, and dark theme.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2697480"/>
            <a:ext cx="260604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65760" y="2697480"/>
            <a:ext cx="2606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84378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5488" y="3319272"/>
            <a:ext cx="2404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browser Fetch for AJAX calls to backend REST endpoints with JWT token headers.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36392" y="2697480"/>
            <a:ext cx="260604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136392" y="269748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2843784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03320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Integration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46120" y="3319272"/>
            <a:ext cx="2404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Security dialect for role-based UI rendering (show/hide elements by role).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907024" y="2697480"/>
            <a:ext cx="2606040" cy="155448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5907024" y="269748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4184" y="2843784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473952" y="278892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016752" y="3319272"/>
            <a:ext cx="24048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design working across desktop, tablet, and mobile viewports.</a:t>
            </a:r>
            <a:endParaRPr lang="en-US" sz="900" dirty="0"/>
          </a:p>
        </p:txBody>
      </p:sp>
      <p:pic>
        <p:nvPicPr>
          <p:cNvPr id="39" name="Picture 38" descr="Logo&#10;&#10;Description automatically generated">
            <a:extLst>
              <a:ext uri="{FF2B5EF4-FFF2-40B4-BE49-F238E27FC236}">
                <a16:creationId xmlns:a16="http://schemas.microsoft.com/office/drawing/2014/main" id="{A0C2D353-DAEC-5660-1F39-0E345BF12D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" y="4720484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E3118BA9-4795-1322-FF20-0059E0EF6464}"/>
              </a:ext>
            </a:extLst>
          </p:cNvPr>
          <p:cNvSpPr/>
          <p:nvPr/>
        </p:nvSpPr>
        <p:spPr>
          <a:xfrm>
            <a:off x="0" y="5143500"/>
            <a:ext cx="9144000" cy="329184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— UI Showcase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JWT-powered authentication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3840480" cy="3840480"/>
          </a:xfrm>
          <a:prstGeom prst="rect">
            <a:avLst/>
          </a:prstGeom>
          <a:solidFill>
            <a:srgbClr val="0D1B2A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3840480" cy="502920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Network 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600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860586"/>
            <a:ext cx="3474720" cy="420624"/>
          </a:xfrm>
          <a:prstGeom prst="rect">
            <a:avLst/>
          </a:prstGeom>
          <a:solidFill>
            <a:srgbClr val="0A1628"/>
          </a:solidFill>
          <a:ln w="635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185623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admin@nms.local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587752"/>
            <a:ext cx="3474720" cy="420624"/>
          </a:xfrm>
          <a:prstGeom prst="rect">
            <a:avLst/>
          </a:prstGeom>
          <a:solidFill>
            <a:srgbClr val="0A1628"/>
          </a:solidFill>
          <a:ln w="635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25877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364992"/>
            <a:ext cx="105156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73352" y="3364992"/>
            <a:ext cx="1051560" cy="34747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673352" y="33649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43784" y="3364992"/>
            <a:ext cx="1051560" cy="347472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43784" y="336499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3822192"/>
            <a:ext cx="3474720" cy="47548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" y="38221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80560" y="1005840"/>
            <a:ext cx="43891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225296"/>
            <a:ext cx="274320" cy="2743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498348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98348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never stored in plain text. BCrypt with strength 10.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480560" y="1947672"/>
            <a:ext cx="43891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167128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983480" y="20208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on Success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498348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signed JWT; stored in session for subsequent calls.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480560" y="2889504"/>
            <a:ext cx="43891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108960"/>
            <a:ext cx="274320" cy="2743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983480" y="2962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Redirect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983480" y="3300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/dashboard, OPERATOR → /devices, VIEWER → /view.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480560" y="3831336"/>
            <a:ext cx="43891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4050792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983480" y="39044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Feedback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4983480" y="4242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401/403 error messages displayed without exposing internals.</a:t>
            </a:r>
            <a:endParaRPr lang="en-US" sz="900" dirty="0"/>
          </a:p>
        </p:txBody>
      </p:sp>
      <p:pic>
        <p:nvPicPr>
          <p:cNvPr id="44" name="Picture 43" descr="Logo&#10;&#10;Description automatically generated">
            <a:extLst>
              <a:ext uri="{FF2B5EF4-FFF2-40B4-BE49-F238E27FC236}">
                <a16:creationId xmlns:a16="http://schemas.microsoft.com/office/drawing/2014/main" id="{4B5873B9-D9C4-1CB7-A01A-7DFCCC640E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" y="5050428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3E41C9C-F349-FB78-2A84-324FFEA1B263}"/>
              </a:ext>
            </a:extLst>
          </p:cNvPr>
          <p:cNvSpPr/>
          <p:nvPr/>
        </p:nvSpPr>
        <p:spPr>
          <a:xfrm>
            <a:off x="0" y="5143500"/>
            <a:ext cx="9144000" cy="406908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60816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— Showcase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network monitoring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18745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8872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060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4400" y="1499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50008" y="987552"/>
            <a:ext cx="18745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168" y="118872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98648" y="1060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898648" y="1499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334256" y="987552"/>
            <a:ext cx="18745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1887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82896" y="1060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4882896" y="1499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318504" y="987552"/>
            <a:ext cx="18745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118872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67144" y="106070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867144" y="14996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In As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65760" y="1920240"/>
            <a:ext cx="5303520" cy="2852928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65760" y="1920240"/>
            <a:ext cx="5303520" cy="420624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50292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Device List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02920" y="23957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Router-Core-01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377440" y="23957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858768" y="2496312"/>
            <a:ext cx="731520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3858768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32" name="Shape 26"/>
          <p:cNvSpPr/>
          <p:nvPr/>
        </p:nvSpPr>
        <p:spPr>
          <a:xfrm>
            <a:off x="384048" y="2834640"/>
            <a:ext cx="5266944" cy="457200"/>
          </a:xfrm>
          <a:prstGeom prst="rect">
            <a:avLst/>
          </a:prstGeom>
          <a:solidFill>
            <a:srgbClr val="4F7CFF">
              <a:alpha val="6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502920" y="28529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Switch-Floor-02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2377440" y="28529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858768" y="2953512"/>
            <a:ext cx="731520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0"/>
          <p:cNvSpPr/>
          <p:nvPr/>
        </p:nvSpPr>
        <p:spPr>
          <a:xfrm>
            <a:off x="3858768" y="29535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502920" y="33101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FW-Edge-01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2377440" y="33101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858768" y="3410712"/>
            <a:ext cx="731520" cy="2194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4"/>
          <p:cNvSpPr/>
          <p:nvPr/>
        </p:nvSpPr>
        <p:spPr>
          <a:xfrm>
            <a:off x="3858768" y="34107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750" dirty="0"/>
          </a:p>
        </p:txBody>
      </p:sp>
      <p:sp>
        <p:nvSpPr>
          <p:cNvPr id="41" name="Shape 35"/>
          <p:cNvSpPr/>
          <p:nvPr/>
        </p:nvSpPr>
        <p:spPr>
          <a:xfrm>
            <a:off x="384048" y="3749040"/>
            <a:ext cx="5266944" cy="457200"/>
          </a:xfrm>
          <a:prstGeom prst="rect">
            <a:avLst/>
          </a:prstGeom>
          <a:solidFill>
            <a:srgbClr val="4F7CFF">
              <a:alpha val="6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6"/>
          <p:cNvSpPr/>
          <p:nvPr/>
        </p:nvSpPr>
        <p:spPr>
          <a:xfrm>
            <a:off x="502920" y="37673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AP-Lobby-03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2377440" y="37673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192.168.2.5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3858768" y="3867912"/>
            <a:ext cx="731520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/>
          <p:nvPr/>
        </p:nvSpPr>
        <p:spPr>
          <a:xfrm>
            <a:off x="3858768" y="38679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502920" y="422452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Router-Edge-02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2377440" y="42245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10.0.0.10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3858768" y="4325112"/>
            <a:ext cx="731520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3"/>
          <p:cNvSpPr/>
          <p:nvPr/>
        </p:nvSpPr>
        <p:spPr>
          <a:xfrm>
            <a:off x="3858768" y="4325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5943600" y="1920240"/>
            <a:ext cx="2926080" cy="2852928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1" name="Shape 45"/>
          <p:cNvSpPr/>
          <p:nvPr/>
        </p:nvSpPr>
        <p:spPr>
          <a:xfrm>
            <a:off x="5943600" y="1920240"/>
            <a:ext cx="2926080" cy="420624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6080760" y="1920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Status Overview</a:t>
            </a:r>
            <a:endParaRPr lang="en-US" sz="1000" dirty="0"/>
          </a:p>
        </p:txBody>
      </p:sp>
      <p:graphicFrame>
        <p:nvGraphicFramePr>
          <p:cNvPr id="53" name="Chart 0"/>
          <p:cNvGraphicFramePr/>
          <p:nvPr/>
        </p:nvGraphicFramePr>
        <p:xfrm>
          <a:off x="5989320" y="2377440"/>
          <a:ext cx="28346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pic>
        <p:nvPicPr>
          <p:cNvPr id="56" name="Picture 55" descr="Logo&#10;&#10;Description automatically generated">
            <a:extLst>
              <a:ext uri="{FF2B5EF4-FFF2-40B4-BE49-F238E27FC236}">
                <a16:creationId xmlns:a16="http://schemas.microsoft.com/office/drawing/2014/main" id="{2991BA19-094A-F013-1EEB-CFCAD45E49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0" y="5126084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B6CC0028-F811-8D1B-8EF6-7B5252B92852}"/>
              </a:ext>
            </a:extLst>
          </p:cNvPr>
          <p:cNvSpPr/>
          <p:nvPr/>
        </p:nvSpPr>
        <p:spPr>
          <a:xfrm>
            <a:off x="0" y="5143500"/>
            <a:ext cx="9144000" cy="460466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60816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interface for network device configurations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87552"/>
            <a:ext cx="1920240" cy="43891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987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Device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987552"/>
            <a:ext cx="1920240" cy="43891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50592" y="987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Edit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35424" y="987552"/>
            <a:ext cx="1920240" cy="43891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35424" y="987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 Delete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0256" y="987552"/>
            <a:ext cx="1920240" cy="438912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20256" y="98755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Search/Filter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554480"/>
            <a:ext cx="8503920" cy="315468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38328" y="1572768"/>
            <a:ext cx="8467344" cy="402336"/>
          </a:xfrm>
          <a:prstGeom prst="rect">
            <a:avLst/>
          </a:prstGeom>
          <a:solidFill>
            <a:srgbClr val="4F7CFF">
              <a:alpha val="78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157276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15727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157276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15727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15727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0299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202996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Router-Core-01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2029968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14216" y="2157984"/>
            <a:ext cx="694944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14216" y="2157984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00600" y="20299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gi0/0 ip addr 192.168.1.1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507224" y="2148840"/>
            <a:ext cx="438912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507224" y="214884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55864" y="2148840"/>
            <a:ext cx="43891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55864" y="214884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" y="2505456"/>
            <a:ext cx="8467344" cy="475488"/>
          </a:xfrm>
          <a:prstGeom prst="rect">
            <a:avLst/>
          </a:prstGeom>
          <a:solidFill>
            <a:srgbClr val="4F7CFF">
              <a:alpha val="6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5054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250545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Switch-Floor-02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51760" y="2505456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14216" y="2633472"/>
            <a:ext cx="694944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014216" y="26334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0600" y="25054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 10 name MGMT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507224" y="2624328"/>
            <a:ext cx="438912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507224" y="2624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55864" y="2624328"/>
            <a:ext cx="43891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055864" y="2624328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8094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2960" y="29809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FW-Edge-01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651760" y="2980944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014216" y="3108960"/>
            <a:ext cx="694944" cy="2194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014216" y="3108960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800600" y="29809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iptables -A INPUT -j ACCEPT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7507224" y="3099816"/>
            <a:ext cx="438912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507224" y="309981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55864" y="3099816"/>
            <a:ext cx="43891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055864" y="3099816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38328" y="3456432"/>
            <a:ext cx="8467344" cy="475488"/>
          </a:xfrm>
          <a:prstGeom prst="rect">
            <a:avLst/>
          </a:prstGeom>
          <a:solidFill>
            <a:srgbClr val="4F7CFF">
              <a:alpha val="6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11480" y="34564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2960" y="3456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AP-Lobby-03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651760" y="3456432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192.168.2.5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014216" y="3584448"/>
            <a:ext cx="694944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014216" y="358444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800600" y="34564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ssid NMS-CORP security wpa2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507224" y="3575304"/>
            <a:ext cx="438912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7507224" y="35753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055864" y="3575304"/>
            <a:ext cx="43891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8055864" y="3575304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39319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22960" y="3931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Router-Edge-02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651760" y="39319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10.0.0.10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014216" y="4059936"/>
            <a:ext cx="694944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014216" y="4059936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800600" y="39319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0.0.0.0 0.0.0.0 10.0.0.1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507224" y="4050792"/>
            <a:ext cx="438912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507224" y="40507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055864" y="4050792"/>
            <a:ext cx="43891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8055864" y="4050792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900" dirty="0"/>
          </a:p>
        </p:txBody>
      </p:sp>
      <p:pic>
        <p:nvPicPr>
          <p:cNvPr id="78" name="Picture 77" descr="Logo&#10;&#10;Description automatically generated">
            <a:extLst>
              <a:ext uri="{FF2B5EF4-FFF2-40B4-BE49-F238E27FC236}">
                <a16:creationId xmlns:a16="http://schemas.microsoft.com/office/drawing/2014/main" id="{55B0B6D4-51D4-353C-6802-1A69B51A0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9" y="5168249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16F1E716-FA34-AE6B-26CF-F8CF0528A664}"/>
              </a:ext>
            </a:extLst>
          </p:cNvPr>
          <p:cNvSpPr/>
          <p:nvPr/>
        </p:nvSpPr>
        <p:spPr>
          <a:xfrm>
            <a:off x="0" y="5143500"/>
            <a:ext cx="9144000" cy="516636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Module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change tracking for all system operations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62354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5488" y="987552"/>
            <a:ext cx="1965960" cy="73152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18872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060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13533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can never be edited or deleted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551176" y="987552"/>
            <a:ext cx="1965960" cy="73152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04" y="118872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90088" y="1060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Tracking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990088" y="13533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tied to authenticated user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26864" y="987552"/>
            <a:ext cx="1965960" cy="73152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118872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65776" y="1060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Event Capture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065776" y="13533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 PUT / DELETE events captured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702552" y="987552"/>
            <a:ext cx="1965960" cy="73152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18872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41464" y="10607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Precision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141464" y="1353312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ISO-8601 timestamps for every event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20040" y="1847088"/>
            <a:ext cx="8503920" cy="28803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38328" y="1865376"/>
            <a:ext cx="8467344" cy="402336"/>
          </a:xfrm>
          <a:prstGeom prst="rect">
            <a:avLst/>
          </a:prstGeom>
          <a:solidFill>
            <a:srgbClr val="8B5CF6">
              <a:alpha val="78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/>
          <p:nvPr/>
        </p:nvSpPr>
        <p:spPr>
          <a:xfrm>
            <a:off x="402336" y="186537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13816" y="18653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2642616" y="18653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739896" y="1865376"/>
            <a:ext cx="777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517136" y="18653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614416" y="18653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02336" y="232257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13816" y="23225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2024-05-10 09:12:34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2642616" y="23225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3776472" y="2450592"/>
            <a:ext cx="658368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3776472" y="245059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4517136" y="23225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850" dirty="0"/>
          </a:p>
        </p:txBody>
      </p:sp>
      <p:sp>
        <p:nvSpPr>
          <p:cNvPr id="39" name="Text 33"/>
          <p:cNvSpPr/>
          <p:nvPr/>
        </p:nvSpPr>
        <p:spPr>
          <a:xfrm>
            <a:off x="5614416" y="232257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Router-Core-01 at 192.168.1.1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338328" y="2798064"/>
            <a:ext cx="8467344" cy="475488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5"/>
          <p:cNvSpPr/>
          <p:nvPr/>
        </p:nvSpPr>
        <p:spPr>
          <a:xfrm>
            <a:off x="402336" y="279806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813816" y="27980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2024-05-10 10:05:11</a:t>
            </a:r>
            <a:endParaRPr lang="en-US" sz="850" dirty="0"/>
          </a:p>
        </p:txBody>
      </p:sp>
      <p:sp>
        <p:nvSpPr>
          <p:cNvPr id="43" name="Text 37"/>
          <p:cNvSpPr/>
          <p:nvPr/>
        </p:nvSpPr>
        <p:spPr>
          <a:xfrm>
            <a:off x="2642616" y="279806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operator1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3776472" y="2926080"/>
            <a:ext cx="658368" cy="21945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39"/>
          <p:cNvSpPr/>
          <p:nvPr/>
        </p:nvSpPr>
        <p:spPr>
          <a:xfrm>
            <a:off x="3776472" y="29260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46" name="Text 40"/>
          <p:cNvSpPr/>
          <p:nvPr/>
        </p:nvSpPr>
        <p:spPr>
          <a:xfrm>
            <a:off x="4517136" y="279806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5614416" y="279806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IP address for Switch-Floor-02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402336" y="327355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813816" y="32735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2024-05-10 11:22:45</a:t>
            </a:r>
            <a:endParaRPr lang="en-US" sz="850" dirty="0"/>
          </a:p>
        </p:txBody>
      </p:sp>
      <p:sp>
        <p:nvSpPr>
          <p:cNvPr id="50" name="Text 44"/>
          <p:cNvSpPr/>
          <p:nvPr/>
        </p:nvSpPr>
        <p:spPr>
          <a:xfrm>
            <a:off x="2642616" y="32735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3776472" y="3401568"/>
            <a:ext cx="658368" cy="2194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6"/>
          <p:cNvSpPr/>
          <p:nvPr/>
        </p:nvSpPr>
        <p:spPr>
          <a:xfrm>
            <a:off x="3776472" y="3401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53" name="Text 47"/>
          <p:cNvSpPr/>
          <p:nvPr/>
        </p:nvSpPr>
        <p:spPr>
          <a:xfrm>
            <a:off x="4517136" y="327355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5614416" y="327355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FW-Edge-01 device config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338328" y="3749040"/>
            <a:ext cx="8467344" cy="475488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0"/>
          <p:cNvSpPr/>
          <p:nvPr/>
        </p:nvSpPr>
        <p:spPr>
          <a:xfrm>
            <a:off x="402336" y="374904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813816" y="37490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2024-05-10 13:08:02</a:t>
            </a:r>
            <a:endParaRPr lang="en-US" sz="850" dirty="0"/>
          </a:p>
        </p:txBody>
      </p:sp>
      <p:sp>
        <p:nvSpPr>
          <p:cNvPr id="58" name="Text 52"/>
          <p:cNvSpPr/>
          <p:nvPr/>
        </p:nvSpPr>
        <p:spPr>
          <a:xfrm>
            <a:off x="2642616" y="37490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operator1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3776472" y="3877056"/>
            <a:ext cx="658368" cy="21945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4"/>
          <p:cNvSpPr/>
          <p:nvPr/>
        </p:nvSpPr>
        <p:spPr>
          <a:xfrm>
            <a:off x="3776472" y="38770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50" dirty="0"/>
          </a:p>
        </p:txBody>
      </p:sp>
      <p:sp>
        <p:nvSpPr>
          <p:cNvPr id="61" name="Text 55"/>
          <p:cNvSpPr/>
          <p:nvPr/>
        </p:nvSpPr>
        <p:spPr>
          <a:xfrm>
            <a:off x="4517136" y="374904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850" dirty="0"/>
          </a:p>
        </p:txBody>
      </p:sp>
      <p:sp>
        <p:nvSpPr>
          <p:cNvPr id="62" name="Text 56"/>
          <p:cNvSpPr/>
          <p:nvPr/>
        </p:nvSpPr>
        <p:spPr>
          <a:xfrm>
            <a:off x="5614416" y="374904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AP-Lobby-03 access point</a:t>
            </a:r>
            <a:endParaRPr lang="en-US" sz="850" dirty="0"/>
          </a:p>
        </p:txBody>
      </p:sp>
      <p:sp>
        <p:nvSpPr>
          <p:cNvPr id="63" name="Text 57"/>
          <p:cNvSpPr/>
          <p:nvPr/>
        </p:nvSpPr>
        <p:spPr>
          <a:xfrm>
            <a:off x="402336" y="422452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813816" y="42245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2024-05-10 15:30:19</a:t>
            </a:r>
            <a:endParaRPr lang="en-US" sz="850" dirty="0"/>
          </a:p>
        </p:txBody>
      </p:sp>
      <p:sp>
        <p:nvSpPr>
          <p:cNvPr id="65" name="Text 59"/>
          <p:cNvSpPr/>
          <p:nvPr/>
        </p:nvSpPr>
        <p:spPr>
          <a:xfrm>
            <a:off x="2642616" y="4224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viewer1</a:t>
            </a:r>
            <a:endParaRPr lang="en-US" sz="850" dirty="0"/>
          </a:p>
        </p:txBody>
      </p:sp>
      <p:sp>
        <p:nvSpPr>
          <p:cNvPr id="66" name="Shape 60"/>
          <p:cNvSpPr/>
          <p:nvPr/>
        </p:nvSpPr>
        <p:spPr>
          <a:xfrm>
            <a:off x="3776472" y="4352544"/>
            <a:ext cx="658368" cy="219456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1"/>
          <p:cNvSpPr/>
          <p:nvPr/>
        </p:nvSpPr>
        <p:spPr>
          <a:xfrm>
            <a:off x="3776472" y="435254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750" dirty="0"/>
          </a:p>
        </p:txBody>
      </p:sp>
      <p:sp>
        <p:nvSpPr>
          <p:cNvPr id="68" name="Text 62"/>
          <p:cNvSpPr/>
          <p:nvPr/>
        </p:nvSpPr>
        <p:spPr>
          <a:xfrm>
            <a:off x="4517136" y="422452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850" dirty="0"/>
          </a:p>
        </p:txBody>
      </p:sp>
      <p:sp>
        <p:nvSpPr>
          <p:cNvPr id="69" name="Text 63"/>
          <p:cNvSpPr/>
          <p:nvPr/>
        </p:nvSpPr>
        <p:spPr>
          <a:xfrm>
            <a:off x="5614416" y="422452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Viewed all device configurations</a:t>
            </a:r>
            <a:endParaRPr lang="en-US" sz="850" dirty="0"/>
          </a:p>
        </p:txBody>
      </p:sp>
      <p:pic>
        <p:nvPicPr>
          <p:cNvPr id="72" name="Picture 71" descr="Logo&#10;&#10;Description automatically generated">
            <a:extLst>
              <a:ext uri="{FF2B5EF4-FFF2-40B4-BE49-F238E27FC236}">
                <a16:creationId xmlns:a16="http://schemas.microsoft.com/office/drawing/2014/main" id="{A5C10A58-45A9-07A3-F304-B5194627FE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1" y="5223483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D95E0C51-F9D6-C940-69F9-4A8A4294DDDB}"/>
              </a:ext>
            </a:extLst>
          </p:cNvPr>
          <p:cNvSpPr/>
          <p:nvPr/>
        </p:nvSpPr>
        <p:spPr>
          <a:xfrm>
            <a:off x="0" y="5143500"/>
            <a:ext cx="9144000" cy="288036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— Schema &amp;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database structure and sample records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65176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960120"/>
            <a:ext cx="2651760" cy="402336"/>
          </a:xfrm>
          <a:prstGeom prst="rect">
            <a:avLst/>
          </a:prstGeom>
          <a:solidFill>
            <a:srgbClr val="4F7CFF">
              <a:alpha val="85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" y="9601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1389888"/>
            <a:ext cx="2651760" cy="310896"/>
          </a:xfrm>
          <a:prstGeom prst="rect">
            <a:avLst/>
          </a:prstGeom>
          <a:solidFill>
            <a:srgbClr val="4F7CFF">
              <a:alpha val="30000"/>
            </a:srgbClr>
          </a:solidFill>
          <a:ln w="12700">
            <a:solidFill>
              <a:srgbClr val="4F7C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7490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3784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70078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36372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7490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03784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70078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BCrypt$2a$10$...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236372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320040" y="2103120"/>
            <a:ext cx="2651760" cy="365760"/>
          </a:xfrm>
          <a:prstGeom prst="rect">
            <a:avLst/>
          </a:prstGeom>
          <a:solidFill>
            <a:srgbClr val="4F7CFF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37490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03784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operator1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70078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BCrypt$2a$10$...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36372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7490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03784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viewer1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70078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BCrypt$2a$10$...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36372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154680" y="960120"/>
            <a:ext cx="265176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3154680" y="960120"/>
            <a:ext cx="2651760" cy="402336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05840"/>
            <a:ext cx="246888" cy="24688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538728" y="9601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154680" y="1389888"/>
            <a:ext cx="2651760" cy="310896"/>
          </a:xfrm>
          <a:prstGeom prst="rect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2"/>
          <p:cNvSpPr/>
          <p:nvPr/>
        </p:nvSpPr>
        <p:spPr>
          <a:xfrm>
            <a:off x="320954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387248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device_name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53542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ip_address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519836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320954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387248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Router-Core-01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53542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5198364" y="1828800"/>
            <a:ext cx="534924" cy="201168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5198364" y="1828800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00" dirty="0"/>
          </a:p>
        </p:txBody>
      </p:sp>
      <p:sp>
        <p:nvSpPr>
          <p:cNvPr id="45" name="Shape 41"/>
          <p:cNvSpPr/>
          <p:nvPr/>
        </p:nvSpPr>
        <p:spPr>
          <a:xfrm>
            <a:off x="3154680" y="2103120"/>
            <a:ext cx="2651760" cy="365760"/>
          </a:xfrm>
          <a:prstGeom prst="rect">
            <a:avLst/>
          </a:prstGeom>
          <a:solidFill>
            <a:srgbClr val="8B5CF6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954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47" name="Text 43"/>
          <p:cNvSpPr/>
          <p:nvPr/>
        </p:nvSpPr>
        <p:spPr>
          <a:xfrm>
            <a:off x="387248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Switch-Floor-02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453542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192.168.1.2</a:t>
            </a:r>
            <a:endParaRPr lang="en-US" sz="750" dirty="0"/>
          </a:p>
        </p:txBody>
      </p:sp>
      <p:sp>
        <p:nvSpPr>
          <p:cNvPr id="49" name="Shape 45"/>
          <p:cNvSpPr/>
          <p:nvPr/>
        </p:nvSpPr>
        <p:spPr>
          <a:xfrm>
            <a:off x="5198364" y="2194560"/>
            <a:ext cx="534924" cy="201168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5198364" y="2194560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320954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387248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FW-Edge-01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453542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10.0.0.1</a:t>
            </a:r>
            <a:endParaRPr lang="en-US" sz="750" dirty="0"/>
          </a:p>
        </p:txBody>
      </p:sp>
      <p:sp>
        <p:nvSpPr>
          <p:cNvPr id="54" name="Shape 50"/>
          <p:cNvSpPr/>
          <p:nvPr/>
        </p:nvSpPr>
        <p:spPr>
          <a:xfrm>
            <a:off x="5198364" y="2560320"/>
            <a:ext cx="534924" cy="201168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5198364" y="2560320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700" dirty="0"/>
          </a:p>
        </p:txBody>
      </p:sp>
      <p:sp>
        <p:nvSpPr>
          <p:cNvPr id="56" name="Shape 52"/>
          <p:cNvSpPr/>
          <p:nvPr/>
        </p:nvSpPr>
        <p:spPr>
          <a:xfrm>
            <a:off x="5989320" y="960120"/>
            <a:ext cx="2651760" cy="329184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5989320" y="960120"/>
            <a:ext cx="2651760" cy="402336"/>
          </a:xfrm>
          <a:prstGeom prst="rect">
            <a:avLst/>
          </a:prstGeom>
          <a:solidFill>
            <a:srgbClr val="22C55E">
              <a:alpha val="8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05840"/>
            <a:ext cx="246888" cy="24688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373368" y="96012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5989320" y="1389888"/>
            <a:ext cx="2651760" cy="310896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604418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62" name="Text 57"/>
          <p:cNvSpPr/>
          <p:nvPr/>
        </p:nvSpPr>
        <p:spPr>
          <a:xfrm>
            <a:off x="670712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800" dirty="0"/>
          </a:p>
        </p:txBody>
      </p:sp>
      <p:sp>
        <p:nvSpPr>
          <p:cNvPr id="63" name="Text 58"/>
          <p:cNvSpPr/>
          <p:nvPr/>
        </p:nvSpPr>
        <p:spPr>
          <a:xfrm>
            <a:off x="737006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8033004" y="1389888"/>
            <a:ext cx="589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800" dirty="0"/>
          </a:p>
        </p:txBody>
      </p:sp>
      <p:sp>
        <p:nvSpPr>
          <p:cNvPr id="65" name="Text 60"/>
          <p:cNvSpPr/>
          <p:nvPr/>
        </p:nvSpPr>
        <p:spPr>
          <a:xfrm>
            <a:off x="604418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750" dirty="0"/>
          </a:p>
        </p:txBody>
      </p:sp>
      <p:sp>
        <p:nvSpPr>
          <p:cNvPr id="66" name="Text 61"/>
          <p:cNvSpPr/>
          <p:nvPr/>
        </p:nvSpPr>
        <p:spPr>
          <a:xfrm>
            <a:off x="670712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67" name="Text 62"/>
          <p:cNvSpPr/>
          <p:nvPr/>
        </p:nvSpPr>
        <p:spPr>
          <a:xfrm>
            <a:off x="737006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8033004" y="173736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5989320" y="2103120"/>
            <a:ext cx="2651760" cy="36576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604418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750" dirty="0"/>
          </a:p>
        </p:txBody>
      </p:sp>
      <p:sp>
        <p:nvSpPr>
          <p:cNvPr id="71" name="Text 66"/>
          <p:cNvSpPr/>
          <p:nvPr/>
        </p:nvSpPr>
        <p:spPr>
          <a:xfrm>
            <a:off x="670712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2" name="Text 67"/>
          <p:cNvSpPr/>
          <p:nvPr/>
        </p:nvSpPr>
        <p:spPr>
          <a:xfrm>
            <a:off x="737006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</p:txBody>
      </p:sp>
      <p:sp>
        <p:nvSpPr>
          <p:cNvPr id="73" name="Text 68"/>
          <p:cNvSpPr/>
          <p:nvPr/>
        </p:nvSpPr>
        <p:spPr>
          <a:xfrm>
            <a:off x="8033004" y="210312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604418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750" dirty="0"/>
          </a:p>
        </p:txBody>
      </p:sp>
      <p:sp>
        <p:nvSpPr>
          <p:cNvPr id="75" name="Text 70"/>
          <p:cNvSpPr/>
          <p:nvPr/>
        </p:nvSpPr>
        <p:spPr>
          <a:xfrm>
            <a:off x="670712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76" name="Text 71"/>
          <p:cNvSpPr/>
          <p:nvPr/>
        </p:nvSpPr>
        <p:spPr>
          <a:xfrm>
            <a:off x="737006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750" dirty="0"/>
          </a:p>
        </p:txBody>
      </p:sp>
      <p:sp>
        <p:nvSpPr>
          <p:cNvPr id="77" name="Text 72"/>
          <p:cNvSpPr/>
          <p:nvPr/>
        </p:nvSpPr>
        <p:spPr>
          <a:xfrm>
            <a:off x="8033004" y="2468880"/>
            <a:ext cx="571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network_config</a:t>
            </a:r>
            <a:endParaRPr lang="en-US" sz="750" dirty="0"/>
          </a:p>
        </p:txBody>
      </p:sp>
      <p:sp>
        <p:nvSpPr>
          <p:cNvPr id="78" name="Shape 73"/>
          <p:cNvSpPr/>
          <p:nvPr/>
        </p:nvSpPr>
        <p:spPr>
          <a:xfrm>
            <a:off x="320040" y="4343400"/>
            <a:ext cx="8503920" cy="420624"/>
          </a:xfrm>
          <a:prstGeom prst="rect">
            <a:avLst/>
          </a:prstGeom>
          <a:solidFill>
            <a:srgbClr val="0A1628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9" name="Text 74"/>
          <p:cNvSpPr/>
          <p:nvPr/>
        </p:nvSpPr>
        <p:spPr>
          <a:xfrm>
            <a:off x="457200" y="43434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·  InnoDB Engine  ·  UTF-8 Charset  ·  Referential Integrity via FK Constraints  ·  Spring Data JPA auto DDL</a:t>
            </a:r>
            <a:endParaRPr lang="en-US" sz="950" dirty="0"/>
          </a:p>
        </p:txBody>
      </p:sp>
      <p:pic>
        <p:nvPicPr>
          <p:cNvPr id="81" name="Picture 80" descr="Logo&#10;&#10;Description automatically generated">
            <a:extLst>
              <a:ext uri="{FF2B5EF4-FFF2-40B4-BE49-F238E27FC236}">
                <a16:creationId xmlns:a16="http://schemas.microsoft.com/office/drawing/2014/main" id="{6D8406FB-7C92-CCA7-779D-EDC259792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1" y="4992188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032C416-659A-2AFF-7FA3-0B1CC5D76EE4}"/>
              </a:ext>
            </a:extLst>
          </p:cNvPr>
          <p:cNvSpPr/>
          <p:nvPr/>
        </p:nvSpPr>
        <p:spPr>
          <a:xfrm>
            <a:off x="0" y="5143501"/>
            <a:ext cx="9144000" cy="493776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8708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API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endpoints with Postman — 100% pass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978408"/>
            <a:ext cx="8503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978408"/>
            <a:ext cx="731520" cy="713232"/>
          </a:xfrm>
          <a:prstGeom prst="rect">
            <a:avLst/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97840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1051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58768" y="1124712"/>
            <a:ext cx="1051560" cy="23774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58768" y="11247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5568" y="1362456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"token": "eyJhbGciOi...", "role": "ADMIN" }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1801368"/>
            <a:ext cx="8503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1801368"/>
            <a:ext cx="731520" cy="713232"/>
          </a:xfrm>
          <a:prstGeom prst="rect">
            <a:avLst/>
          </a:prstGeom>
          <a:solidFill>
            <a:srgbClr val="4F7CFF">
              <a:alpha val="82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180136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" y="1874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58768" y="1947672"/>
            <a:ext cx="1051560" cy="237744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58768" y="19476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2185416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 "id": 1, "device_name": "Router-Core-01", "status": "ONLINE" }]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624328"/>
            <a:ext cx="8503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" y="2624328"/>
            <a:ext cx="731520" cy="713232"/>
          </a:xfrm>
          <a:prstGeom prst="rect">
            <a:avLst/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262432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2697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58768" y="2770632"/>
            <a:ext cx="1051560" cy="23774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58768" y="27706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" y="3008376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6, "device_name": "Switch-New", "ip_address": "192.168.3.1" }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447288"/>
            <a:ext cx="8503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0040" y="3447288"/>
            <a:ext cx="731520" cy="713232"/>
          </a:xfrm>
          <a:prstGeom prst="rect">
            <a:avLst/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344728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5568" y="35204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58768" y="3593592"/>
            <a:ext cx="1051560" cy="23774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58768" y="35935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15568" y="3831336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1, "status": "OFFLINE", "message": "Updated successfully" }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4270248"/>
            <a:ext cx="850392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0040" y="4270248"/>
            <a:ext cx="731520" cy="713232"/>
          </a:xfrm>
          <a:prstGeom prst="rect">
            <a:avLst/>
          </a:prstGeom>
          <a:solidFill>
            <a:srgbClr val="EF4444">
              <a:alpha val="82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427024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" y="4343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858768" y="4416552"/>
            <a:ext cx="1051560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58768" y="441655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15568" y="4654296"/>
            <a:ext cx="7278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204 — Resource deleted. No body returned.</a:t>
            </a:r>
            <a:endParaRPr lang="en-US" sz="800" dirty="0"/>
          </a:p>
        </p:txBody>
      </p:sp>
      <p:pic>
        <p:nvPicPr>
          <p:cNvPr id="46" name="Picture 45" descr="Logo&#10;&#10;Description automatically generated">
            <a:extLst>
              <a:ext uri="{FF2B5EF4-FFF2-40B4-BE49-F238E27FC236}">
                <a16:creationId xmlns:a16="http://schemas.microsoft.com/office/drawing/2014/main" id="{B8315578-0680-154B-E83B-3D8156C01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77" y="5214340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80DE7583-D52A-4521-5F4A-4D4A6735CBFA}"/>
              </a:ext>
            </a:extLst>
          </p:cNvPr>
          <p:cNvSpPr/>
          <p:nvPr/>
        </p:nvSpPr>
        <p:spPr>
          <a:xfrm>
            <a:off x="0" y="5143500"/>
            <a:ext cx="9144000" cy="365760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Documentation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interactive API documentation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4754880" cy="37947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4754880" cy="402336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9601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 —  /swagger-ui/index.html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481328"/>
            <a:ext cx="621792" cy="292608"/>
          </a:xfrm>
          <a:prstGeom prst="rect">
            <a:avLst/>
          </a:prstGeom>
          <a:solidFill>
            <a:srgbClr val="22C55E">
              <a:alpha val="7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472" y="148132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024128" y="1481328"/>
            <a:ext cx="3858768" cy="292608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097280" y="1481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1947672"/>
            <a:ext cx="621792" cy="292608"/>
          </a:xfrm>
          <a:prstGeom prst="rect">
            <a:avLst/>
          </a:prstGeom>
          <a:solidFill>
            <a:srgbClr val="4F7CFF">
              <a:alpha val="78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194767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24128" y="1947672"/>
            <a:ext cx="3858768" cy="292608"/>
          </a:xfrm>
          <a:prstGeom prst="rect">
            <a:avLst/>
          </a:prstGeom>
          <a:solidFill>
            <a:srgbClr val="4F7CFF">
              <a:alpha val="10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97280" y="19476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2414016"/>
            <a:ext cx="621792" cy="292608"/>
          </a:xfrm>
          <a:prstGeom prst="rect">
            <a:avLst/>
          </a:prstGeom>
          <a:solidFill>
            <a:srgbClr val="22C55E">
              <a:alpha val="7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241401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24128" y="2414016"/>
            <a:ext cx="3858768" cy="292608"/>
          </a:xfrm>
          <a:prstGeom prst="rect">
            <a:avLst/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24140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880360"/>
            <a:ext cx="621792" cy="292608"/>
          </a:xfrm>
          <a:prstGeom prst="rect">
            <a:avLst/>
          </a:prstGeom>
          <a:solidFill>
            <a:srgbClr val="4F7CFF">
              <a:alpha val="78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8803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24128" y="2880360"/>
            <a:ext cx="3858768" cy="292608"/>
          </a:xfrm>
          <a:prstGeom prst="rect">
            <a:avLst/>
          </a:prstGeom>
          <a:solidFill>
            <a:srgbClr val="4F7CFF">
              <a:alpha val="10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097280" y="2880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/api/devices/{id}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3346704"/>
            <a:ext cx="621792" cy="292608"/>
          </a:xfrm>
          <a:prstGeom prst="rect">
            <a:avLst/>
          </a:prstGeom>
          <a:solidFill>
            <a:srgbClr val="F59E0B">
              <a:alpha val="7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" y="3346704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24128" y="3346704"/>
            <a:ext cx="3858768" cy="292608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097280" y="33467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/api/devices/{id}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3813048"/>
            <a:ext cx="621792" cy="292608"/>
          </a:xfrm>
          <a:prstGeom prst="rect">
            <a:avLst/>
          </a:prstGeom>
          <a:solidFill>
            <a:srgbClr val="EF4444">
              <a:alpha val="78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7472" y="381304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24128" y="3813048"/>
            <a:ext cx="3858768" cy="292608"/>
          </a:xfrm>
          <a:prstGeom prst="rect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097280" y="3813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/api/devices/{id}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4279392"/>
            <a:ext cx="621792" cy="292608"/>
          </a:xfrm>
          <a:prstGeom prst="rect">
            <a:avLst/>
          </a:prstGeom>
          <a:solidFill>
            <a:srgbClr val="4F7CFF">
              <a:alpha val="78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47472" y="427939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24128" y="4279392"/>
            <a:ext cx="3858768" cy="292608"/>
          </a:xfrm>
          <a:prstGeom prst="rect">
            <a:avLst/>
          </a:prstGeom>
          <a:solidFill>
            <a:srgbClr val="4F7CFF">
              <a:alpha val="10000"/>
            </a:srgbClr>
          </a:solidFill>
          <a:ln w="12700">
            <a:solidFill>
              <a:srgbClr val="4F7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097280" y="4279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/api/audit-logs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257800" y="960120"/>
            <a:ext cx="361188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170432"/>
            <a:ext cx="274320" cy="27432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760720" y="10332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Docs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760720" y="13624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generates docs from @Operation annotations automatically.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257800" y="1911096"/>
            <a:ext cx="361188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121408"/>
            <a:ext cx="274320" cy="274320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5760720" y="19842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5760720" y="2313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test client to execute real API calls from the browser interface.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5257800" y="2862072"/>
            <a:ext cx="361188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072384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760720" y="29352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in Swagger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576072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can be configured for authenticated endpoint testing.</a:t>
            </a:r>
            <a:endParaRPr lang="en-US" sz="850" dirty="0"/>
          </a:p>
        </p:txBody>
      </p:sp>
      <p:sp>
        <p:nvSpPr>
          <p:cNvPr id="52" name="Shape 47"/>
          <p:cNvSpPr/>
          <p:nvPr/>
        </p:nvSpPr>
        <p:spPr>
          <a:xfrm>
            <a:off x="5257800" y="3813048"/>
            <a:ext cx="361188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4023360"/>
            <a:ext cx="274320" cy="27432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5760720" y="38862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Export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5760720" y="42153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3.0 JSON export for integration with tools like Postman, Stoplight.</a:t>
            </a:r>
            <a:endParaRPr lang="en-US" sz="850" dirty="0"/>
          </a:p>
        </p:txBody>
      </p:sp>
      <p:pic>
        <p:nvPicPr>
          <p:cNvPr id="57" name="Picture 56" descr="Logo&#10;&#10;Description automatically generated">
            <a:extLst>
              <a:ext uri="{FF2B5EF4-FFF2-40B4-BE49-F238E27FC236}">
                <a16:creationId xmlns:a16="http://schemas.microsoft.com/office/drawing/2014/main" id="{D42283EB-6B4A-DA57-6BA4-2052A059CD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" y="5073412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BD61B80-8ABD-E54E-FA5B-BFF58A42A03C}"/>
              </a:ext>
            </a:extLst>
          </p:cNvPr>
          <p:cNvSpPr/>
          <p:nvPr/>
        </p:nvSpPr>
        <p:spPr>
          <a:xfrm>
            <a:off x="-1" y="5131527"/>
            <a:ext cx="9104811" cy="346164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&amp;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management with Spring Boot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069080" cy="169164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54864" cy="169164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18872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41832" y="1143000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6344" y="1664208"/>
            <a:ext cx="3831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exception handler catches all unhandled exceptions and returns structured error responses with proper HTTP status codes.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0" y="1005840"/>
            <a:ext cx="4069080" cy="169164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480560" y="1005840"/>
            <a:ext cx="54864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11887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02352" y="1143000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Validation (@Valid)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26864" y="1664208"/>
            <a:ext cx="3831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@NotNull, @Size, @Pattern annotations on DTOs with automatic validation triggered before controller methods.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" y="2807208"/>
            <a:ext cx="4069080" cy="16916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20040" y="2807208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29900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41832" y="2944368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/ 403 Handling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66344" y="3465576"/>
            <a:ext cx="3831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Invalid/expired JWT returns 401 Unauthorized. Access to forbidden resources returns 403 Forbidden with clear JSON error body.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480560" y="2807208"/>
            <a:ext cx="4069080" cy="169164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480560" y="2807208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864" y="299008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02352" y="2944368"/>
            <a:ext cx="3355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 Response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626864" y="3465576"/>
            <a:ext cx="3831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ErrorResponse DTO with timestamp, status code, message, and path — no stack traces exposed to client.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93916" y="4543696"/>
            <a:ext cx="8305798" cy="256032"/>
          </a:xfrm>
          <a:prstGeom prst="rect">
            <a:avLst/>
          </a:prstGeom>
          <a:solidFill>
            <a:srgbClr val="080E1E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365760" y="4526280"/>
            <a:ext cx="82339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@ExceptionHandler(ResourceNotFoundException.class)  →  ResponseEntity&lt;ErrorResponse&gt;(error, HttpStatus.NOT_FOUND)</a:t>
            </a:r>
            <a:endParaRPr lang="en-US" sz="800" dirty="0"/>
          </a:p>
        </p:txBody>
      </p:sp>
      <p:pic>
        <p:nvPicPr>
          <p:cNvPr id="34" name="Picture 33" descr="Logo&#10;&#10;Description automatically generated">
            <a:extLst>
              <a:ext uri="{FF2B5EF4-FFF2-40B4-BE49-F238E27FC236}">
                <a16:creationId xmlns:a16="http://schemas.microsoft.com/office/drawing/2014/main" id="{62764FA9-1DDC-1009-CC65-8E9DC729F57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1" y="5038998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Multi-layered security implementation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6060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2606040" cy="6400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170432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24128" y="1170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" y="1700784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stateless tokens with configurable expiry and claim-based authorization.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36392" y="1005840"/>
            <a:ext cx="26060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136392" y="1005840"/>
            <a:ext cx="26060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17043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94760" y="1170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264408" y="1700784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 strength 10 — never stored or transmitted in plain text.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07024" y="1005840"/>
            <a:ext cx="26060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907024" y="100584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17043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65392" y="117043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Authorization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35040" y="1700784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@PreAuthorize and URL security rules enforced per role.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2651760"/>
            <a:ext cx="26060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65760" y="2651760"/>
            <a:ext cx="260604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2816352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24128" y="281635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93776" y="3346704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session state on server — full REST stateless compliance with JWT.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36392" y="2651760"/>
            <a:ext cx="26060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136392" y="2651760"/>
            <a:ext cx="26060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2816352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94760" y="281635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264408" y="3346704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validates token on each request before processing.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907024" y="2651760"/>
            <a:ext cx="260604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5907024" y="265176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616" y="2816352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65392" y="2816352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6035040" y="3346704"/>
            <a:ext cx="23865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disabled for stateless REST; CORS configured for allowed origins only.</a:t>
            </a:r>
            <a:endParaRPr lang="en-US" sz="900" dirty="0"/>
          </a:p>
        </p:txBody>
      </p:sp>
      <p:pic>
        <p:nvPicPr>
          <p:cNvPr id="39" name="Picture 38" descr="Logo&#10;&#10;Description automatically generated">
            <a:extLst>
              <a:ext uri="{FF2B5EF4-FFF2-40B4-BE49-F238E27FC236}">
                <a16:creationId xmlns:a16="http://schemas.microsoft.com/office/drawing/2014/main" id="{ABB4505E-740D-FA38-1574-7866F32CA2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" y="4707501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6746A4A-FC69-88BA-869D-B9BFB4C09E67}"/>
              </a:ext>
            </a:extLst>
          </p:cNvPr>
          <p:cNvSpPr/>
          <p:nvPr/>
        </p:nvSpPr>
        <p:spPr>
          <a:xfrm>
            <a:off x="0" y="5143500"/>
            <a:ext cx="9144000" cy="334191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solved during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85039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2148840" cy="82296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344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1005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Integration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42032" y="1325880"/>
            <a:ext cx="292608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2907792" y="1005840"/>
            <a:ext cx="5870448" cy="82296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2344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10058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custom JwtUtil class with HS256, configured Spring Security to extract and validate token from Authorization header on every request.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20040" y="1965960"/>
            <a:ext cx="85039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320040" y="1965960"/>
            <a:ext cx="2148840" cy="82296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945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" y="19659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CORS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2542032" y="2286000"/>
            <a:ext cx="292608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2907792" y="1965960"/>
            <a:ext cx="5870448" cy="82296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1945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383280" y="196596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CorsConfigurationSource in SecurityConfig allowing specific origins, methods, and headers for seamless Thymeleaf-Spring Boot integration.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0040" y="2926080"/>
            <a:ext cx="85039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20040" y="2926080"/>
            <a:ext cx="2148840" cy="82296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1546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2960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Mapping Issues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542032" y="3246120"/>
            <a:ext cx="292608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2907792" y="2926080"/>
            <a:ext cx="5870448" cy="82296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154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83280" y="29260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JPA bidirectional relationships with @JsonIgnore to prevent circular serialization, and used @Transactional for atomic operations.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320040" y="3886200"/>
            <a:ext cx="8503920" cy="822960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6"/>
          <p:cNvSpPr/>
          <p:nvPr/>
        </p:nvSpPr>
        <p:spPr>
          <a:xfrm>
            <a:off x="320040" y="3886200"/>
            <a:ext cx="2148840" cy="82296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11480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22960" y="38862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Implementation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2542032" y="4206240"/>
            <a:ext cx="292608" cy="182880"/>
          </a:xfrm>
          <a:prstGeom prst="triangl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29"/>
          <p:cNvSpPr/>
          <p:nvPr/>
        </p:nvSpPr>
        <p:spPr>
          <a:xfrm>
            <a:off x="2907792" y="3886200"/>
            <a:ext cx="5870448" cy="82296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114800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3383280" y="388620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@PreAuthorize with SpEL expressions and configured HttpSecurity role-based URL patterns with hasRole() matchers in SecurityFilterChain.</a:t>
            </a:r>
            <a:endParaRPr lang="en-US" sz="900" dirty="0"/>
          </a:p>
        </p:txBody>
      </p:sp>
      <p:pic>
        <p:nvPicPr>
          <p:cNvPr id="42" name="Picture 41" descr="Logo&#10;&#10;Description automatically generated">
            <a:extLst>
              <a:ext uri="{FF2B5EF4-FFF2-40B4-BE49-F238E27FC236}">
                <a16:creationId xmlns:a16="http://schemas.microsoft.com/office/drawing/2014/main" id="{3D6611C6-97AD-BC38-51EC-E81E7E78BE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3" y="5046046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 flipV="1">
            <a:off x="0" y="4842394"/>
            <a:ext cx="9144000" cy="519169"/>
          </a:xfrm>
          <a:prstGeom prst="rect">
            <a:avLst/>
          </a:prstGeom>
          <a:solidFill>
            <a:srgbClr val="060816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-148046"/>
            <a:ext cx="9144000" cy="733262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0"/>
            <a:ext cx="9144000" cy="45719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-185275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309154"/>
            <a:ext cx="8412480" cy="19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for next-generation NMS capabilities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655974"/>
            <a:ext cx="4069080" cy="1008234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792489"/>
            <a:ext cx="4069080" cy="54864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83926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908968"/>
            <a:ext cx="3383280" cy="28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1237490"/>
            <a:ext cx="3840480" cy="326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NMS with Docker, orchestrate with Kubernetes for cloud-native scalability.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80560" y="661866"/>
            <a:ext cx="4069080" cy="1002342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480560" y="788130"/>
            <a:ext cx="40690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840388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74920" y="82122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617720" y="1220072"/>
            <a:ext cx="3840480" cy="40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 / Azure with auto-scaling, load balancing, and managed RDS.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1773943"/>
            <a:ext cx="4069080" cy="1121657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20040" y="1917630"/>
            <a:ext cx="40690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039553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" y="2011683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Analytics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2393124"/>
            <a:ext cx="3840480" cy="386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anomaly detection using ML models for predictive network fault management.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480560" y="1773940"/>
            <a:ext cx="4069080" cy="1121657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480560" y="1917635"/>
            <a:ext cx="40690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2026486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74920" y="2002975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/ NETCONF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617720" y="2371345"/>
            <a:ext cx="3840480" cy="379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protocol support with SNMP v3 and NETCONF/YANG for real device communication.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0040" y="2999235"/>
            <a:ext cx="4069080" cy="1351776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20040" y="3138572"/>
            <a:ext cx="40690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277906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14400" y="32369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57200" y="36445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push notifications and email/SMS alerts for critical device events.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480560" y="2994883"/>
            <a:ext cx="4069080" cy="1351128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4480560" y="3129863"/>
            <a:ext cx="40690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260496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074920" y="32152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Dashboard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617720" y="361405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integration for time-series metrics and interactive network topology maps.</a:t>
            </a:r>
            <a:endParaRPr lang="en-US" sz="900" dirty="0"/>
          </a:p>
        </p:txBody>
      </p:sp>
      <p:pic>
        <p:nvPicPr>
          <p:cNvPr id="40" name="Picture 39" descr="Logo&#10;&#10;Description automatically generated">
            <a:extLst>
              <a:ext uri="{FF2B5EF4-FFF2-40B4-BE49-F238E27FC236}">
                <a16:creationId xmlns:a16="http://schemas.microsoft.com/office/drawing/2014/main" id="{67ACC6F8-BC05-72D5-44E5-5A66F7A330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6" y="4904365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DC612B1-0B0B-CAFE-2CE3-3F4DB19EB408}"/>
              </a:ext>
            </a:extLst>
          </p:cNvPr>
          <p:cNvSpPr/>
          <p:nvPr/>
        </p:nvSpPr>
        <p:spPr>
          <a:xfrm>
            <a:off x="0" y="5143500"/>
            <a:ext cx="9144000" cy="299357"/>
          </a:xfrm>
          <a:prstGeom prst="rect">
            <a:avLst/>
          </a:prstGeom>
          <a:solidFill>
            <a:srgbClr val="06081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0816"/>
          </a:solidFill>
          <a:ln w="12700">
            <a:solidFill>
              <a:srgbClr val="0608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 and enterprise impact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983480"/>
            <a:ext cx="2011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069080" cy="1572768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54864" cy="1572768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280160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96696" y="118872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Architecture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" y="1755648"/>
            <a:ext cx="3813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JWT + BCrypt + RBAC security with Spring Security filter chain.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0" y="1005840"/>
            <a:ext cx="4069080" cy="1572768"/>
          </a:xfrm>
          <a:prstGeom prst="rect">
            <a:avLst/>
          </a:prstGeom>
          <a:solidFill>
            <a:srgbClr val="111827"/>
          </a:solidFill>
          <a:ln w="6350">
            <a:solidFill>
              <a:srgbClr val="22C55E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480560" y="1005840"/>
            <a:ext cx="54864" cy="1572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280160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57216" y="1188720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Management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45152" y="1755648"/>
            <a:ext cx="3813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RESTCONF APIs and dashboard replace fragmented CLI tools.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0040" y="2688336"/>
            <a:ext cx="4069080" cy="1572768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320040" y="2688336"/>
            <a:ext cx="54864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962656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96696" y="2871216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Scalability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4632" y="3438144"/>
            <a:ext cx="3813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Spring Boot architecture ready for cloud and container deployment.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480560" y="2688336"/>
            <a:ext cx="4069080" cy="1572768"/>
          </a:xfrm>
          <a:prstGeom prst="rect">
            <a:avLst/>
          </a:prstGeom>
          <a:solidFill>
            <a:srgbClr val="111827"/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480560" y="2688336"/>
            <a:ext cx="54864" cy="15727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2962656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157216" y="2871216"/>
            <a:ext cx="3300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Benefits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645152" y="3438144"/>
            <a:ext cx="3813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API-driven CRUD eliminates human error and accelerates network operations.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0040" y="4251960"/>
            <a:ext cx="8503920" cy="530352"/>
          </a:xfrm>
          <a:prstGeom prst="rect">
            <a:avLst/>
          </a:prstGeom>
          <a:solidFill>
            <a:srgbClr val="0A1628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20040" y="4251960"/>
            <a:ext cx="54864" cy="530352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457200" y="425196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project demonstrates a production-grade Network Management System that showcases enterprise Java development, API security, and modern full-stack engineering skills.</a:t>
            </a:r>
            <a:endParaRPr lang="en-US" sz="950" dirty="0"/>
          </a:p>
        </p:txBody>
      </p:sp>
      <p:pic>
        <p:nvPicPr>
          <p:cNvPr id="33" name="Picture 32" descr="Logo&#10;&#10;Description automatically generated">
            <a:extLst>
              <a:ext uri="{FF2B5EF4-FFF2-40B4-BE49-F238E27FC236}">
                <a16:creationId xmlns:a16="http://schemas.microsoft.com/office/drawing/2014/main" id="{BF4ADC41-235F-5307-F143-A7C8D87118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0" y="5017576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572000" cy="4572000"/>
          </a:xfrm>
          <a:prstGeom prst="ellipse">
            <a:avLst/>
          </a:prstGeom>
          <a:solidFill>
            <a:srgbClr val="4F7CFF">
              <a:alpha val="10000"/>
            </a:srgbClr>
          </a:solidFill>
          <a:ln w="12700">
            <a:solidFill>
              <a:srgbClr val="4F7C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2286000"/>
            <a:ext cx="4114800" cy="41148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274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38988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00400" y="2139696"/>
            <a:ext cx="2743200" cy="45720"/>
          </a:xfrm>
          <a:prstGeom prst="rect">
            <a:avLst/>
          </a:prstGeom>
          <a:solidFill>
            <a:srgbClr val="4F7CFF"/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any Suggestions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2743200"/>
            <a:ext cx="6400800" cy="1193074"/>
          </a:xfrm>
          <a:prstGeom prst="rect">
            <a:avLst/>
          </a:prstGeom>
          <a:solidFill>
            <a:srgbClr val="111827"/>
          </a:solidFill>
          <a:ln w="6350">
            <a:solidFill>
              <a:srgbClr val="4F7CFF">
                <a:alpha val="6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37160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Team-C  ·  CRUD operations with RESTCONF and Java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92808" y="3163824"/>
            <a:ext cx="329184" cy="329184"/>
          </a:xfrm>
          <a:prstGeom prst="ellipse">
            <a:avLst/>
          </a:prstGeom>
          <a:solidFill>
            <a:srgbClr val="4F7CFF">
              <a:alpha val="80000"/>
            </a:srgbClr>
          </a:solidFill>
          <a:ln w="12700">
            <a:solidFill>
              <a:srgbClr val="4F7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417320" y="35295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Hanmanolla Priyanka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72968" y="3163824"/>
            <a:ext cx="329184" cy="329184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2697480" y="35295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Rehena Shaik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53128" y="3163824"/>
            <a:ext cx="329184" cy="329184"/>
          </a:xfrm>
          <a:prstGeom prst="ellipse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977640" y="35295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Kuncham Sandhya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33288" y="3163824"/>
            <a:ext cx="329184" cy="329184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349240" y="3523923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Konasani Sai Krishna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013448" y="3163824"/>
            <a:ext cx="329184" cy="329184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537960" y="3529584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Md.Anas</a:t>
            </a:r>
            <a:endParaRPr lang="en-US" sz="950" dirty="0"/>
          </a:p>
        </p:txBody>
      </p:sp>
      <p:pic>
        <p:nvPicPr>
          <p:cNvPr id="24" name="Picture 23" descr="Logo&#10;&#10;Description automatically generated">
            <a:extLst>
              <a:ext uri="{FF2B5EF4-FFF2-40B4-BE49-F238E27FC236}">
                <a16:creationId xmlns:a16="http://schemas.microsoft.com/office/drawing/2014/main" id="{63646A85-9182-7098-4D65-AD9B86F6D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" y="4682290"/>
            <a:ext cx="645766" cy="422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2408</Words>
  <Application>Microsoft Office PowerPoint</Application>
  <PresentationFormat>On-screen Show (16:9)</PresentationFormat>
  <Paragraphs>646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RESTCONF-Based NMS</dc:title>
  <dc:subject>PptxGenJS Presentation</dc:subject>
  <dc:creator>Team-C</dc:creator>
  <cp:lastModifiedBy>Ashraf_ Anas</cp:lastModifiedBy>
  <cp:revision>4</cp:revision>
  <dcterms:created xsi:type="dcterms:W3CDTF">2026-05-24T11:35:52Z</dcterms:created>
  <dcterms:modified xsi:type="dcterms:W3CDTF">2026-05-24T14:00:24Z</dcterms:modified>
</cp:coreProperties>
</file>